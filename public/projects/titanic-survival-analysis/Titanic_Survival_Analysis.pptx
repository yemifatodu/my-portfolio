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Passengers</c:v>
                </c:pt>
              </c:strCache>
            </c:strRef>
          </c:tx>
          <c:spPr>
            <a:solidFill>
              <a:srgbClr val="5DADE2"/>
            </a:solidFill>
            <a:effectLst/>
          </c:spPr>
          <c:invertIfNegative val="0"/>
          <c:dLbls>
            <c:numFmt formatCode="#,##0" sourceLinked="0"/>
            <c:txPr>
              <a:bodyPr/>
              <a:lstStyle/>
              <a:p>
                <a:pPr>
                  <a:defRPr b="0" i="0" strike="noStrike" sz="1000" u="none">
                    <a:solidFill>
                      <a:srgbClr val="0B1F3A"/>
                    </a:solidFill>
                    <a:latin typeface="Arial"/>
                  </a:defRPr>
                </a:pPr>
              </a:p>
            </c:txPr>
            <c:showLegendKey val="0"/>
            <c:showVal val="1"/>
            <c:showCatName val="0"/>
            <c:showSerName val="0"/>
            <c:showPercent val="0"/>
            <c:showBubbleSize val="0"/>
            <c:showLeaderLines val="0"/>
          </c:dLbls>
          <c:cat>
            <c:multiLvlStrRef>
              <c:f>Sheet1!$A$2:$A$4</c:f>
              <c:multiLvlStrCache>
                <c:ptCount val="3"/>
                <c:lvl>
                  <c:pt idx="0">
                    <c:v>First</c:v>
                  </c:pt>
                  <c:pt idx="1">
                    <c:v>Second</c:v>
                  </c:pt>
                  <c:pt idx="2">
                    <c:v>Third</c:v>
                  </c:pt>
                </c:lvl>
              </c:multiLvlStrCache>
            </c:multiLvlStrRef>
          </c:cat>
          <c:val>
            <c:numRef>
              <c:f>Sheet1!$B$2:$B$4</c:f>
              <c:numCache>
                <c:formatCode>General</c:formatCode>
                <c:ptCount val="3"/>
                <c:pt idx="0">
                  <c:v>186</c:v>
                </c:pt>
                <c:pt idx="1">
                  <c:v>173</c:v>
                </c:pt>
                <c:pt idx="2">
                  <c:v>355</c:v>
                </c:pt>
              </c:numCache>
            </c:numRef>
          </c:val>
        </c:ser>
        <c:dLbls>
          <c:numFmt formatCode="#,##0" sourceLinked="0"/>
          <c:txPr>
            <a:bodyPr/>
            <a:lstStyle/>
            <a:p>
              <a:pPr>
                <a:defRPr b="0" i="0" strike="noStrike" sz="10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4F"/>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0B1F3A"/>
              </a:solidFill>
              <a:effectLst/>
            </c:spPr>
          </c:dPt>
          <c:dPt>
            <c:idx val="1"/>
            <c:bubble3D val="0"/>
            <c:spPr>
              <a:solidFill>
                <a:srgbClr val="5DADE2"/>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Male (63.4%)</c:v>
                </c:pt>
                <c:pt idx="1">
                  <c:v>Female (36.6%)</c:v>
                </c:pt>
              </c:strCache>
            </c:strRef>
          </c:cat>
          <c:val>
            <c:numRef>
              <c:f>Sheet1!$B$2:$B$3</c:f>
              <c:numCache>
                <c:ptCount val="2"/>
                <c:pt idx="0">
                  <c:v>453</c:v>
                </c:pt>
                <c:pt idx="1">
                  <c:v>261</c:v>
                </c:pt>
              </c:numCache>
            </c:numRef>
          </c:val>
        </c:ser>
        <c:firstSliceAng val="0"/>
      </c:pieChart>
      <c:spPr>
        <a:noFill/>
        <a:ln>
          <a:noFill/>
        </a:ln>
        <a:effectLst/>
      </c:spPr>
    </c:plotArea>
    <c:legend>
      <c:legendPos val="r"/>
      <c:overlay val="0"/>
      <c:txPr>
        <a:bodyPr/>
        <a:lstStyle/>
        <a:p>
          <a:pPr>
            <a:defRPr sz="900">
              <a:solidFill>
                <a:srgbClr val="33414F"/>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Calibri"/>
              </a:defRPr>
            </a:pPr>
            <a:r>
              <a:rPr sz="1400" b="0" i="0" u="none" strike="noStrike">
                <a:solidFill>
                  <a:srgbClr val="0B1F3A"/>
                </a:solidFill>
                <a:latin typeface="Calibri"/>
              </a:rPr>
              <a:t>Survival Rate by Class (%)</a:t>
            </a:r>
          </a:p>
        </c:rich>
      </c:tx>
      <c:layout/>
      <c:overlay val="0"/>
    </c:title>
    <c:autoTitleDeleted val="0"/>
    <c:plotArea>
      <c:layout/>
      <c:barChart>
        <c:barDir val="col"/>
        <c:grouping val="clustered"/>
        <c:varyColors val="0"/>
        <c:ser>
          <c:idx val="0"/>
          <c:order val="0"/>
          <c:tx>
            <c:strRef>
              <c:f>Sheet1!$B$1</c:f>
              <c:strCache>
                <c:ptCount val="1"/>
                <c:pt idx="0">
                  <c:v>Survival Rate</c:v>
                </c:pt>
              </c:strCache>
            </c:strRef>
          </c:tx>
          <c:spPr>
            <a:solidFill>
              <a:srgbClr val="0B1F3A"/>
            </a:solidFill>
            <a:effectLst/>
          </c:spPr>
          <c:invertIfNegative val="0"/>
          <c:dLbls>
            <c:numFmt formatCode="0.0&quot;%&quot;" sourceLinked="0"/>
            <c:txPr>
              <a:bodyPr/>
              <a:lstStyle/>
              <a:p>
                <a:pPr>
                  <a:defRPr b="0" i="0" strike="noStrike" sz="1200" u="none">
                    <a:solidFill>
                      <a:srgbClr val="0B1F3A"/>
                    </a:solidFill>
                    <a:latin typeface="Calibri"/>
                  </a:defRPr>
                </a:pPr>
              </a:p>
            </c:txPr>
            <c:showLegendKey val="0"/>
            <c:showVal val="1"/>
            <c:showCatName val="0"/>
            <c:showSerName val="0"/>
            <c:showPercent val="0"/>
            <c:showBubbleSize val="0"/>
            <c:showLeaderLines val="0"/>
          </c:dLbls>
          <c:dPt>
            <c:idx val="0"/>
            <c:invertIfNegative val="0"/>
            <c:bubble3D val="0"/>
            <c:spPr>
              <a:solidFill>
                <a:srgbClr val="0B1F3A"/>
              </a:solidFill>
              <a:effectLst/>
            </c:spPr>
          </c:dPt>
          <c:dPt>
            <c:idx val="1"/>
            <c:invertIfNegative val="0"/>
            <c:bubble3D val="0"/>
            <c:spPr>
              <a:solidFill>
                <a:srgbClr val="2C3E50"/>
              </a:solidFill>
              <a:effectLst/>
            </c:spPr>
          </c:dPt>
          <c:dPt>
            <c:idx val="2"/>
            <c:invertIfNegative val="0"/>
            <c:bubble3D val="0"/>
            <c:spPr>
              <a:solidFill>
                <a:srgbClr val="5DADE2"/>
              </a:solidFill>
              <a:effectLst/>
            </c:spPr>
          </c:dPt>
          <c:cat>
            <c:multiLvlStrRef>
              <c:f>Sheet1!$A$2:$A$4</c:f>
              <c:multiLvlStrCache>
                <c:ptCount val="3"/>
                <c:lvl>
                  <c:pt idx="0">
                    <c:v>First Class</c:v>
                  </c:pt>
                  <c:pt idx="1">
                    <c:v>Second Class</c:v>
                  </c:pt>
                  <c:pt idx="2">
                    <c:v>Third Class</c:v>
                  </c:pt>
                </c:lvl>
              </c:multiLvlStrCache>
            </c:multiLvlStrRef>
          </c:cat>
          <c:val>
            <c:numRef>
              <c:f>Sheet1!$B$2:$B$4</c:f>
              <c:numCache>
                <c:formatCode>General</c:formatCode>
                <c:ptCount val="3"/>
                <c:pt idx="0">
                  <c:v>65.6</c:v>
                </c:pt>
                <c:pt idx="1">
                  <c:v>48</c:v>
                </c:pt>
                <c:pt idx="2">
                  <c:v>23.9</c:v>
                </c:pt>
              </c:numCache>
            </c:numRef>
          </c:val>
        </c:ser>
        <c:dLbls>
          <c:numFmt formatCode="0.0&quot;%&quot;" sourceLinked="0"/>
          <c:txPr>
            <a:bodyPr/>
            <a:lstStyle/>
            <a:p>
              <a:pPr>
                <a:defRPr b="0" i="0" strike="noStrike" sz="1200" u="none">
                  <a:solidFill>
                    <a:srgbClr val="0B1F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4F"/>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822960" y="822960"/>
            <a:ext cx="1371600" cy="1097280"/>
          </a:xfrm>
          <a:prstGeom prst="rect">
            <a:avLst/>
          </a:prstGeom>
          <a:noFill/>
          <a:ln/>
        </p:spPr>
        <p:txBody>
          <a:bodyPr wrap="square" rtlCol="0" anchor="ctr"/>
          <a:lstStyle/>
          <a:p>
            <a:pPr indent="0" marL="0">
              <a:buNone/>
            </a:pPr>
            <a:r>
              <a:rPr lang="en-US" sz="4400" dirty="0">
                <a:solidFill>
                  <a:srgbClr val="000000"/>
                </a:solidFill>
              </a:rPr>
              <a:t>🚢</a:t>
            </a:r>
            <a:endParaRPr lang="en-US" sz="4400" dirty="0"/>
          </a:p>
        </p:txBody>
      </p:sp>
      <p:sp>
        <p:nvSpPr>
          <p:cNvPr id="3" name="Text 1"/>
          <p:cNvSpPr/>
          <p:nvPr/>
        </p:nvSpPr>
        <p:spPr>
          <a:xfrm>
            <a:off x="822960" y="2103120"/>
            <a:ext cx="1051560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Voyage of Fate</a:t>
            </a:r>
            <a:endParaRPr lang="en-US" sz="4800" dirty="0"/>
          </a:p>
        </p:txBody>
      </p:sp>
      <p:sp>
        <p:nvSpPr>
          <p:cNvPr id="4" name="Text 2"/>
          <p:cNvSpPr/>
          <p:nvPr/>
        </p:nvSpPr>
        <p:spPr>
          <a:xfrm>
            <a:off x="822960" y="3063240"/>
            <a:ext cx="10515600" cy="640080"/>
          </a:xfrm>
          <a:prstGeom prst="rect">
            <a:avLst/>
          </a:prstGeom>
          <a:noFill/>
          <a:ln/>
        </p:spPr>
        <p:txBody>
          <a:bodyPr wrap="square" lIns="0" tIns="0" rIns="0" bIns="0" rtlCol="0" anchor="ctr"/>
          <a:lstStyle/>
          <a:p>
            <a:pPr indent="0" marL="0">
              <a:buNone/>
            </a:pPr>
            <a:r>
              <a:rPr lang="en-US" sz="2000" dirty="0">
                <a:solidFill>
                  <a:srgbClr val="5DADE2"/>
                </a:solidFill>
                <a:latin typeface="Calibri" pitchFamily="34" charset="0"/>
                <a:ea typeface="Calibri" pitchFamily="34" charset="-122"/>
                <a:cs typeface="Calibri" pitchFamily="34" charset="-120"/>
              </a:rPr>
              <a:t>Titanic Survival Analysis by Passenger Class &amp; Gender</a:t>
            </a:r>
            <a:endParaRPr lang="en-US" sz="2000" dirty="0"/>
          </a:p>
        </p:txBody>
      </p:sp>
      <p:sp>
        <p:nvSpPr>
          <p:cNvPr id="5" name="Shape 3"/>
          <p:cNvSpPr/>
          <p:nvPr/>
        </p:nvSpPr>
        <p:spPr>
          <a:xfrm>
            <a:off x="822960" y="3931920"/>
            <a:ext cx="2926080" cy="0"/>
          </a:xfrm>
          <a:prstGeom prst="line">
            <a:avLst/>
          </a:prstGeom>
          <a:noFill/>
          <a:ln w="25400">
            <a:solidFill>
              <a:srgbClr val="5DADE2"/>
            </a:solidFill>
            <a:prstDash val="solid"/>
          </a:ln>
        </p:spPr>
      </p:sp>
      <p:sp>
        <p:nvSpPr>
          <p:cNvPr id="6" name="Text 4"/>
          <p:cNvSpPr/>
          <p:nvPr/>
        </p:nvSpPr>
        <p:spPr>
          <a:xfrm>
            <a:off x="822960" y="4160520"/>
            <a:ext cx="10058400" cy="45720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714 complete passenger records  •  Kaggle dataset  •  Python, Excel, Tableau</a:t>
            </a:r>
            <a:endParaRPr lang="en-US" sz="1400" dirty="0"/>
          </a:p>
        </p:txBody>
      </p:sp>
      <p:sp>
        <p:nvSpPr>
          <p:cNvPr id="7" name="Text 5"/>
          <p:cNvSpPr/>
          <p:nvPr/>
        </p:nvSpPr>
        <p:spPr>
          <a:xfrm>
            <a:off x="822960" y="5943600"/>
            <a:ext cx="10058400" cy="365760"/>
          </a:xfrm>
          <a:prstGeom prst="rect">
            <a:avLst/>
          </a:prstGeom>
          <a:noFill/>
          <a:ln/>
        </p:spPr>
        <p:txBody>
          <a:bodyPr wrap="square" lIns="0" tIns="0" rIns="0" bIns="0" rtlCol="0" anchor="ctr"/>
          <a:lstStyle/>
          <a:p>
            <a:pPr indent="0" marL="0">
              <a:buNone/>
            </a:pPr>
            <a:r>
              <a:rPr lang="en-US" sz="1200" dirty="0">
                <a:solidFill>
                  <a:srgbClr val="7A8B9A"/>
                </a:solidFill>
                <a:latin typeface="Calibri" pitchFamily="34" charset="0"/>
                <a:ea typeface="Calibri" pitchFamily="34" charset="-122"/>
                <a:cs typeface="Calibri" pitchFamily="34" charset="-120"/>
              </a:rPr>
              <a:t>Opeyemi Ebenezer Fatodu  |  Data Scientist &amp; Full-Stack Developer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200" b="1" dirty="0">
                <a:solidFill>
                  <a:srgbClr val="5DADE2"/>
                </a:solidFill>
                <a:latin typeface="Calibri" pitchFamily="34" charset="0"/>
                <a:ea typeface="Calibri" pitchFamily="34" charset="-122"/>
                <a:cs typeface="Calibri" pitchFamily="34" charset="-120"/>
              </a:rPr>
              <a:t>01 · The Problem</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Did class decide who lived?</a:t>
            </a:r>
            <a:endParaRPr lang="en-US" sz="3000" dirty="0"/>
          </a:p>
        </p:txBody>
      </p:sp>
      <p:sp>
        <p:nvSpPr>
          <p:cNvPr id="4" name="Text 2"/>
          <p:cNvSpPr/>
          <p:nvPr/>
        </p:nvSpPr>
        <p:spPr>
          <a:xfrm>
            <a:off x="640080" y="1737360"/>
            <a:ext cx="5486400" cy="2011680"/>
          </a:xfrm>
          <a:prstGeom prst="rect">
            <a:avLst/>
          </a:prstGeom>
          <a:noFill/>
          <a:ln/>
        </p:spPr>
        <p:txBody>
          <a:bodyPr wrap="square" lIns="0" tIns="0" rIns="0" bIns="0" rtlCol="0" anchor="ctr"/>
          <a:lstStyle/>
          <a:p>
            <a:pPr indent="0" marL="0">
              <a:lnSpc>
                <a:spcPct val="130000"/>
              </a:lnSpc>
              <a:buNone/>
            </a:pPr>
            <a:r>
              <a:rPr lang="en-US" sz="1400" dirty="0">
                <a:solidFill>
                  <a:srgbClr val="33414F"/>
                </a:solidFill>
                <a:latin typeface="Calibri" pitchFamily="34" charset="0"/>
                <a:ea typeface="Calibri" pitchFamily="34" charset="-122"/>
                <a:cs typeface="Calibri" pitchFamily="34" charset="-120"/>
              </a:rPr>
              <a:t>The Titanic's sinking on April 15, 1912 has spawned a century of retellings — but the passenger data itself gets less airtime than the myths. This project sources the Kaggle Titanic passenger dataset, cleans it to 714 complete records, and asks a narrower, checkable question:</a:t>
            </a:r>
            <a:endParaRPr lang="en-US" sz="1400" dirty="0"/>
          </a:p>
        </p:txBody>
      </p:sp>
      <p:sp>
        <p:nvSpPr>
          <p:cNvPr id="5" name="Text 3"/>
          <p:cNvSpPr/>
          <p:nvPr/>
        </p:nvSpPr>
        <p:spPr>
          <a:xfrm>
            <a:off x="640080" y="3657600"/>
            <a:ext cx="5486400" cy="1188720"/>
          </a:xfrm>
          <a:prstGeom prst="rect">
            <a:avLst/>
          </a:prstGeom>
          <a:noFill/>
          <a:ln/>
        </p:spPr>
        <p:txBody>
          <a:bodyPr wrap="square" lIns="0" tIns="0" rIns="0" bIns="0" rtlCol="0" anchor="ctr"/>
          <a:lstStyle/>
          <a:p>
            <a:pPr indent="0" marL="0">
              <a:buNone/>
            </a:pPr>
            <a:r>
              <a:rPr lang="en-US" sz="1800" b="1" i="1" dirty="0">
                <a:solidFill>
                  <a:srgbClr val="2C3E50"/>
                </a:solidFill>
                <a:latin typeface="Cambria" pitchFamily="34" charset="0"/>
                <a:ea typeface="Cambria" pitchFamily="34" charset="-122"/>
                <a:cs typeface="Cambria" pitchFamily="34" charset="-120"/>
              </a:rPr>
              <a:t>How much did passenger class and gender actually shape who survived?</a:t>
            </a:r>
            <a:endParaRPr lang="en-US" sz="1800" dirty="0"/>
          </a:p>
        </p:txBody>
      </p:sp>
      <p:sp>
        <p:nvSpPr>
          <p:cNvPr id="6" name="Shape 4"/>
          <p:cNvSpPr/>
          <p:nvPr/>
        </p:nvSpPr>
        <p:spPr>
          <a:xfrm>
            <a:off x="6492240" y="1737360"/>
            <a:ext cx="5029200" cy="1920240"/>
          </a:xfrm>
          <a:prstGeom prst="roundRect">
            <a:avLst>
              <a:gd name="adj" fmla="val 3810"/>
            </a:avLst>
          </a:prstGeom>
          <a:solidFill>
            <a:srgbClr val="F4F6F8"/>
          </a:solidFill>
          <a:ln w="12700">
            <a:solidFill>
              <a:srgbClr val="DCE3EA"/>
            </a:solidFill>
            <a:prstDash val="solid"/>
          </a:ln>
        </p:spPr>
      </p:sp>
      <p:sp>
        <p:nvSpPr>
          <p:cNvPr id="7" name="Text 5"/>
          <p:cNvSpPr/>
          <p:nvPr/>
        </p:nvSpPr>
        <p:spPr>
          <a:xfrm>
            <a:off x="6766560" y="1874520"/>
            <a:ext cx="4480560" cy="320040"/>
          </a:xfrm>
          <a:prstGeom prst="rect">
            <a:avLst/>
          </a:prstGeom>
          <a:noFill/>
          <a:ln/>
        </p:spPr>
        <p:txBody>
          <a:bodyPr wrap="square" lIns="0" tIns="0" rIns="0" bIns="0" rtlCol="0" anchor="ctr"/>
          <a:lstStyle/>
          <a:p>
            <a:pPr indent="0" marL="0">
              <a:buNone/>
            </a:pPr>
            <a:r>
              <a:rPr lang="en-US" sz="1100" b="1" dirty="0">
                <a:solidFill>
                  <a:srgbClr val="7A8B9A"/>
                </a:solidFill>
                <a:latin typeface="Calibri" pitchFamily="34" charset="0"/>
                <a:ea typeface="Calibri" pitchFamily="34" charset="-122"/>
                <a:cs typeface="Calibri" pitchFamily="34" charset="-120"/>
              </a:rPr>
              <a:t>POPULAR MYTHS</a:t>
            </a:r>
            <a:endParaRPr lang="en-US" sz="1100" dirty="0"/>
          </a:p>
        </p:txBody>
      </p:sp>
      <p:sp>
        <p:nvSpPr>
          <p:cNvPr id="8" name="Text 6"/>
          <p:cNvSpPr/>
          <p:nvPr/>
        </p:nvSpPr>
        <p:spPr>
          <a:xfrm>
            <a:off x="6766560" y="2240280"/>
            <a:ext cx="4480560" cy="128016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33414F"/>
                </a:solidFill>
                <a:latin typeface="Calibri" pitchFamily="34" charset="0"/>
                <a:ea typeface="Calibri" pitchFamily="34" charset="-122"/>
                <a:cs typeface="Calibri" pitchFamily="34" charset="-120"/>
              </a:rPr>
              <a:t>The ship was overloaded beyond capacity
</a:t>
            </a:r>
            <a:endParaRPr lang="en-US" sz="1250" dirty="0"/>
          </a:p>
          <a:p>
            <a:pPr marL="342900" indent="-342900">
              <a:spcAft>
                <a:spcPts val="600"/>
              </a:spcAft>
              <a:buSzPct val="100000"/>
              <a:buChar char="•"/>
            </a:pPr>
            <a:r>
              <a:rPr lang="en-US" sz="1250" dirty="0">
                <a:solidFill>
                  <a:srgbClr val="33414F"/>
                </a:solidFill>
                <a:latin typeface="Calibri" pitchFamily="34" charset="0"/>
                <a:ea typeface="Calibri" pitchFamily="34" charset="-122"/>
                <a:cs typeface="Calibri" pitchFamily="34" charset="-120"/>
              </a:rPr>
              <a:t>High speed alone sealed its fate
</a:t>
            </a:r>
            <a:endParaRPr lang="en-US" sz="1250" dirty="0"/>
          </a:p>
          <a:p>
            <a:pPr marL="342900" indent="-342900">
              <a:spcAft>
                <a:spcPts val="600"/>
              </a:spcAft>
              <a:buSzPct val="100000"/>
              <a:buChar char="•"/>
            </a:pPr>
            <a:r>
              <a:rPr lang="en-US" sz="1250" dirty="0">
                <a:solidFill>
                  <a:srgbClr val="33414F"/>
                </a:solidFill>
                <a:latin typeface="Calibri" pitchFamily="34" charset="0"/>
                <a:ea typeface="Calibri" pitchFamily="34" charset="-122"/>
                <a:cs typeface="Calibri" pitchFamily="34" charset="-120"/>
              </a:rPr>
              <a:t>Survival was effectively random</a:t>
            </a:r>
            <a:endParaRPr lang="en-US" sz="1250" dirty="0"/>
          </a:p>
        </p:txBody>
      </p:sp>
      <p:sp>
        <p:nvSpPr>
          <p:cNvPr id="9" name="Shape 7"/>
          <p:cNvSpPr/>
          <p:nvPr/>
        </p:nvSpPr>
        <p:spPr>
          <a:xfrm>
            <a:off x="6492240" y="3886200"/>
            <a:ext cx="5029200" cy="1920240"/>
          </a:xfrm>
          <a:prstGeom prst="roundRect">
            <a:avLst>
              <a:gd name="adj" fmla="val 3810"/>
            </a:avLst>
          </a:prstGeom>
          <a:solidFill>
            <a:srgbClr val="0B1F3A"/>
          </a:solidFill>
          <a:ln/>
        </p:spPr>
      </p:sp>
      <p:sp>
        <p:nvSpPr>
          <p:cNvPr id="10" name="Text 8"/>
          <p:cNvSpPr/>
          <p:nvPr/>
        </p:nvSpPr>
        <p:spPr>
          <a:xfrm>
            <a:off x="6766560" y="4023360"/>
            <a:ext cx="4480560" cy="320040"/>
          </a:xfrm>
          <a:prstGeom prst="rect">
            <a:avLst/>
          </a:prstGeom>
          <a:noFill/>
          <a:ln/>
        </p:spPr>
        <p:txBody>
          <a:bodyPr wrap="square" lIns="0" tIns="0" rIns="0" bIns="0" rtlCol="0" anchor="ctr"/>
          <a:lstStyle/>
          <a:p>
            <a:pPr indent="0" marL="0">
              <a:buNone/>
            </a:pPr>
            <a:r>
              <a:rPr lang="en-US" sz="1100" b="1" dirty="0">
                <a:solidFill>
                  <a:srgbClr val="5DADE2"/>
                </a:solidFill>
                <a:latin typeface="Calibri" pitchFamily="34" charset="0"/>
                <a:ea typeface="Calibri" pitchFamily="34" charset="-122"/>
                <a:cs typeface="Calibri" pitchFamily="34" charset="-120"/>
              </a:rPr>
              <a:t>WHAT THE DATA SHOWS</a:t>
            </a:r>
            <a:endParaRPr lang="en-US" sz="1100" dirty="0"/>
          </a:p>
        </p:txBody>
      </p:sp>
      <p:sp>
        <p:nvSpPr>
          <p:cNvPr id="11" name="Text 9"/>
          <p:cNvSpPr/>
          <p:nvPr/>
        </p:nvSpPr>
        <p:spPr>
          <a:xfrm>
            <a:off x="6766560" y="4389120"/>
            <a:ext cx="4480560" cy="128016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E8EDF2"/>
                </a:solidFill>
                <a:latin typeface="Calibri" pitchFamily="34" charset="0"/>
                <a:ea typeface="Calibri" pitchFamily="34" charset="-122"/>
                <a:cs typeface="Calibri" pitchFamily="34" charset="-120"/>
              </a:rPr>
              <a:t>Within design capacity: ~2,224 of ~3,335
</a:t>
            </a:r>
            <a:endParaRPr lang="en-US" sz="1250" dirty="0"/>
          </a:p>
          <a:p>
            <a:pPr marL="342900" indent="-342900">
              <a:spcAft>
                <a:spcPts val="600"/>
              </a:spcAft>
              <a:buSzPct val="100000"/>
              <a:buChar char="•"/>
            </a:pPr>
            <a:r>
              <a:rPr lang="en-US" sz="1250" dirty="0">
                <a:solidFill>
                  <a:srgbClr val="E8EDF2"/>
                </a:solidFill>
                <a:latin typeface="Calibri" pitchFamily="34" charset="0"/>
                <a:ea typeface="Calibri" pitchFamily="34" charset="-122"/>
                <a:cs typeface="Calibri" pitchFamily="34" charset="-120"/>
              </a:rPr>
              <a:t>Survival correlated strongly with class &amp; gender
</a:t>
            </a:r>
            <a:endParaRPr lang="en-US" sz="1250" dirty="0"/>
          </a:p>
          <a:p>
            <a:pPr marL="342900" indent="-342900">
              <a:spcAft>
                <a:spcPts val="600"/>
              </a:spcAft>
              <a:buSzPct val="100000"/>
              <a:buChar char="•"/>
            </a:pPr>
            <a:r>
              <a:rPr lang="en-US" sz="1250" dirty="0">
                <a:solidFill>
                  <a:srgbClr val="E8EDF2"/>
                </a:solidFill>
                <a:latin typeface="Calibri" pitchFamily="34" charset="0"/>
                <a:ea typeface="Calibri" pitchFamily="34" charset="-122"/>
                <a:cs typeface="Calibri" pitchFamily="34" charset="-120"/>
              </a:rPr>
              <a:t>714 complete records, analyzed 7 ways</a:t>
            </a:r>
            <a:endParaRPr lang="en-US" sz="1250" dirty="0"/>
          </a:p>
        </p:txBody>
      </p:sp>
      <p:sp>
        <p:nvSpPr>
          <p:cNvPr id="12" name="Text 10"/>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7A8B9A"/>
                </a:solidFill>
                <a:latin typeface="Calibri" pitchFamily="34" charset="0"/>
                <a:ea typeface="Calibri" pitchFamily="34" charset="-122"/>
                <a:cs typeface="Calibri" pitchFamily="34" charset="-120"/>
              </a:rPr>
              <a:t>Voyage of Fate — Titanic Survival Analysis</a:t>
            </a:r>
            <a:endParaRPr lang="en-US" sz="90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7A8B9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200" b="1" dirty="0">
                <a:solidFill>
                  <a:srgbClr val="5DADE2"/>
                </a:solidFill>
                <a:latin typeface="Calibri" pitchFamily="34" charset="0"/>
                <a:ea typeface="Calibri" pitchFamily="34" charset="-122"/>
                <a:cs typeface="Calibri" pitchFamily="34" charset="-120"/>
              </a:rPr>
              <a:t>02 · Dataset</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Titanic passenger dataset (Kaggle, cleaned)</a:t>
            </a:r>
            <a:endParaRPr lang="en-US" sz="2800" dirty="0"/>
          </a:p>
        </p:txBody>
      </p:sp>
      <p:sp>
        <p:nvSpPr>
          <p:cNvPr id="4" name="Shape 2"/>
          <p:cNvSpPr/>
          <p:nvPr/>
        </p:nvSpPr>
        <p:spPr>
          <a:xfrm>
            <a:off x="640080" y="1828800"/>
            <a:ext cx="2606040" cy="1463040"/>
          </a:xfrm>
          <a:prstGeom prst="roundRect">
            <a:avLst>
              <a:gd name="adj" fmla="val 3750"/>
            </a:avLst>
          </a:prstGeom>
          <a:solidFill>
            <a:srgbClr val="F4F6F8"/>
          </a:solidFill>
          <a:ln w="12700">
            <a:solidFill>
              <a:srgbClr val="DCE3EA"/>
            </a:solidFill>
            <a:prstDash val="solid"/>
          </a:ln>
        </p:spPr>
      </p:sp>
      <p:sp>
        <p:nvSpPr>
          <p:cNvPr id="5" name="Text 3"/>
          <p:cNvSpPr/>
          <p:nvPr/>
        </p:nvSpPr>
        <p:spPr>
          <a:xfrm>
            <a:off x="868680" y="1965960"/>
            <a:ext cx="2148840" cy="822960"/>
          </a:xfrm>
          <a:prstGeom prst="rect">
            <a:avLst/>
          </a:prstGeom>
          <a:noFill/>
          <a:ln/>
        </p:spPr>
        <p:txBody>
          <a:bodyPr wrap="square" lIns="0" tIns="0" rIns="0" bIns="0" rtlCol="0" anchor="ctr"/>
          <a:lstStyle/>
          <a:p>
            <a:pPr algn="l" indent="0" marL="0">
              <a:buNone/>
            </a:pPr>
            <a:r>
              <a:rPr lang="en-US" sz="3000" b="1" dirty="0">
                <a:solidFill>
                  <a:srgbClr val="0B1F3A"/>
                </a:solidFill>
                <a:latin typeface="Cambria" pitchFamily="34" charset="0"/>
                <a:ea typeface="Cambria" pitchFamily="34" charset="-122"/>
                <a:cs typeface="Cambria" pitchFamily="34" charset="-120"/>
              </a:rPr>
              <a:t>2,224</a:t>
            </a:r>
            <a:endParaRPr lang="en-US" sz="3000" dirty="0"/>
          </a:p>
        </p:txBody>
      </p:sp>
      <p:sp>
        <p:nvSpPr>
          <p:cNvPr id="6" name="Text 4"/>
          <p:cNvSpPr/>
          <p:nvPr/>
        </p:nvSpPr>
        <p:spPr>
          <a:xfrm>
            <a:off x="868680" y="2743200"/>
            <a:ext cx="2148840" cy="457200"/>
          </a:xfrm>
          <a:prstGeom prst="rect">
            <a:avLst/>
          </a:prstGeom>
          <a:noFill/>
          <a:ln/>
        </p:spPr>
        <p:txBody>
          <a:bodyPr wrap="square" lIns="0" tIns="0" rIns="0" bIns="0" rtlCol="0" anchor="ctr"/>
          <a:lstStyle/>
          <a:p>
            <a:pPr algn="l" indent="0" marL="0">
              <a:buNone/>
            </a:pPr>
            <a:r>
              <a:rPr lang="en-US" sz="1100" dirty="0">
                <a:solidFill>
                  <a:srgbClr val="7A8B9A"/>
                </a:solidFill>
                <a:latin typeface="Calibri" pitchFamily="34" charset="0"/>
                <a:ea typeface="Calibri" pitchFamily="34" charset="-122"/>
                <a:cs typeface="Calibri" pitchFamily="34" charset="-120"/>
              </a:rPr>
              <a:t>Total Aboard (Historical)</a:t>
            </a:r>
            <a:endParaRPr lang="en-US" sz="1100" dirty="0"/>
          </a:p>
        </p:txBody>
      </p:sp>
      <p:sp>
        <p:nvSpPr>
          <p:cNvPr id="7" name="Shape 5"/>
          <p:cNvSpPr/>
          <p:nvPr/>
        </p:nvSpPr>
        <p:spPr>
          <a:xfrm>
            <a:off x="3474720" y="1828800"/>
            <a:ext cx="2606040" cy="1463040"/>
          </a:xfrm>
          <a:prstGeom prst="roundRect">
            <a:avLst>
              <a:gd name="adj" fmla="val 3750"/>
            </a:avLst>
          </a:prstGeom>
          <a:solidFill>
            <a:srgbClr val="F4F6F8"/>
          </a:solidFill>
          <a:ln w="12700">
            <a:solidFill>
              <a:srgbClr val="DCE3EA"/>
            </a:solidFill>
            <a:prstDash val="solid"/>
          </a:ln>
        </p:spPr>
      </p:sp>
      <p:sp>
        <p:nvSpPr>
          <p:cNvPr id="8" name="Text 6"/>
          <p:cNvSpPr/>
          <p:nvPr/>
        </p:nvSpPr>
        <p:spPr>
          <a:xfrm>
            <a:off x="3703320" y="1965960"/>
            <a:ext cx="2148840" cy="822960"/>
          </a:xfrm>
          <a:prstGeom prst="rect">
            <a:avLst/>
          </a:prstGeom>
          <a:noFill/>
          <a:ln/>
        </p:spPr>
        <p:txBody>
          <a:bodyPr wrap="square" lIns="0" tIns="0" rIns="0" bIns="0" rtlCol="0" anchor="ctr"/>
          <a:lstStyle/>
          <a:p>
            <a:pPr algn="l" indent="0" marL="0">
              <a:buNone/>
            </a:pPr>
            <a:r>
              <a:rPr lang="en-US" sz="3000" b="1" dirty="0">
                <a:solidFill>
                  <a:srgbClr val="0B1F3A"/>
                </a:solidFill>
                <a:latin typeface="Cambria" pitchFamily="34" charset="0"/>
                <a:ea typeface="Cambria" pitchFamily="34" charset="-122"/>
                <a:cs typeface="Cambria" pitchFamily="34" charset="-120"/>
              </a:rPr>
              <a:t>714</a:t>
            </a:r>
            <a:endParaRPr lang="en-US" sz="3000" dirty="0"/>
          </a:p>
        </p:txBody>
      </p:sp>
      <p:sp>
        <p:nvSpPr>
          <p:cNvPr id="9" name="Text 7"/>
          <p:cNvSpPr/>
          <p:nvPr/>
        </p:nvSpPr>
        <p:spPr>
          <a:xfrm>
            <a:off x="3703320" y="2743200"/>
            <a:ext cx="2148840" cy="457200"/>
          </a:xfrm>
          <a:prstGeom prst="rect">
            <a:avLst/>
          </a:prstGeom>
          <a:noFill/>
          <a:ln/>
        </p:spPr>
        <p:txBody>
          <a:bodyPr wrap="square" lIns="0" tIns="0" rIns="0" bIns="0" rtlCol="0" anchor="ctr"/>
          <a:lstStyle/>
          <a:p>
            <a:pPr algn="l" indent="0" marL="0">
              <a:buNone/>
            </a:pPr>
            <a:r>
              <a:rPr lang="en-US" sz="1100" dirty="0">
                <a:solidFill>
                  <a:srgbClr val="7A8B9A"/>
                </a:solidFill>
                <a:latin typeface="Calibri" pitchFamily="34" charset="0"/>
                <a:ea typeface="Calibri" pitchFamily="34" charset="-122"/>
                <a:cs typeface="Calibri" pitchFamily="34" charset="-120"/>
              </a:rPr>
              <a:t>Usable Records (Post-Cleaning)</a:t>
            </a:r>
            <a:endParaRPr lang="en-US" sz="1100" dirty="0"/>
          </a:p>
        </p:txBody>
      </p:sp>
      <p:sp>
        <p:nvSpPr>
          <p:cNvPr id="10" name="Shape 8"/>
          <p:cNvSpPr/>
          <p:nvPr/>
        </p:nvSpPr>
        <p:spPr>
          <a:xfrm>
            <a:off x="6309360" y="1828800"/>
            <a:ext cx="2606040" cy="1463040"/>
          </a:xfrm>
          <a:prstGeom prst="roundRect">
            <a:avLst>
              <a:gd name="adj" fmla="val 3750"/>
            </a:avLst>
          </a:prstGeom>
          <a:solidFill>
            <a:srgbClr val="F4F6F8"/>
          </a:solidFill>
          <a:ln w="12700">
            <a:solidFill>
              <a:srgbClr val="DCE3EA"/>
            </a:solidFill>
            <a:prstDash val="solid"/>
          </a:ln>
        </p:spPr>
      </p:sp>
      <p:sp>
        <p:nvSpPr>
          <p:cNvPr id="11" name="Text 9"/>
          <p:cNvSpPr/>
          <p:nvPr/>
        </p:nvSpPr>
        <p:spPr>
          <a:xfrm>
            <a:off x="6537960" y="1965960"/>
            <a:ext cx="2148840" cy="822960"/>
          </a:xfrm>
          <a:prstGeom prst="rect">
            <a:avLst/>
          </a:prstGeom>
          <a:noFill/>
          <a:ln/>
        </p:spPr>
        <p:txBody>
          <a:bodyPr wrap="square" lIns="0" tIns="0" rIns="0" bIns="0" rtlCol="0" anchor="ctr"/>
          <a:lstStyle/>
          <a:p>
            <a:pPr algn="l" indent="0" marL="0">
              <a:buNone/>
            </a:pPr>
            <a:r>
              <a:rPr lang="en-US" sz="3000" b="1" dirty="0">
                <a:solidFill>
                  <a:srgbClr val="0B1F3A"/>
                </a:solidFill>
                <a:latin typeface="Cambria" pitchFamily="34" charset="0"/>
                <a:ea typeface="Cambria" pitchFamily="34" charset="-122"/>
                <a:cs typeface="Cambria" pitchFamily="34" charset="-120"/>
              </a:rPr>
              <a:t>3</a:t>
            </a:r>
            <a:endParaRPr lang="en-US" sz="3000" dirty="0"/>
          </a:p>
        </p:txBody>
      </p:sp>
      <p:sp>
        <p:nvSpPr>
          <p:cNvPr id="12" name="Text 10"/>
          <p:cNvSpPr/>
          <p:nvPr/>
        </p:nvSpPr>
        <p:spPr>
          <a:xfrm>
            <a:off x="6537960" y="2743200"/>
            <a:ext cx="2148840" cy="457200"/>
          </a:xfrm>
          <a:prstGeom prst="rect">
            <a:avLst/>
          </a:prstGeom>
          <a:noFill/>
          <a:ln/>
        </p:spPr>
        <p:txBody>
          <a:bodyPr wrap="square" lIns="0" tIns="0" rIns="0" bIns="0" rtlCol="0" anchor="ctr"/>
          <a:lstStyle/>
          <a:p>
            <a:pPr algn="l" indent="0" marL="0">
              <a:buNone/>
            </a:pPr>
            <a:r>
              <a:rPr lang="en-US" sz="1100" dirty="0">
                <a:solidFill>
                  <a:srgbClr val="7A8B9A"/>
                </a:solidFill>
                <a:latin typeface="Calibri" pitchFamily="34" charset="0"/>
                <a:ea typeface="Calibri" pitchFamily="34" charset="-122"/>
                <a:cs typeface="Calibri" pitchFamily="34" charset="-120"/>
              </a:rPr>
              <a:t>Passenger Classes</a:t>
            </a:r>
            <a:endParaRPr lang="en-US" sz="1100" dirty="0"/>
          </a:p>
        </p:txBody>
      </p:sp>
      <p:sp>
        <p:nvSpPr>
          <p:cNvPr id="13" name="Shape 11"/>
          <p:cNvSpPr/>
          <p:nvPr/>
        </p:nvSpPr>
        <p:spPr>
          <a:xfrm>
            <a:off x="9144000" y="1828800"/>
            <a:ext cx="2606040" cy="1463040"/>
          </a:xfrm>
          <a:prstGeom prst="roundRect">
            <a:avLst>
              <a:gd name="adj" fmla="val 3750"/>
            </a:avLst>
          </a:prstGeom>
          <a:solidFill>
            <a:srgbClr val="F4F6F8"/>
          </a:solidFill>
          <a:ln w="12700">
            <a:solidFill>
              <a:srgbClr val="DCE3EA"/>
            </a:solidFill>
            <a:prstDash val="solid"/>
          </a:ln>
        </p:spPr>
      </p:sp>
      <p:sp>
        <p:nvSpPr>
          <p:cNvPr id="14" name="Text 12"/>
          <p:cNvSpPr/>
          <p:nvPr/>
        </p:nvSpPr>
        <p:spPr>
          <a:xfrm>
            <a:off x="9372600" y="1965960"/>
            <a:ext cx="2148840" cy="822960"/>
          </a:xfrm>
          <a:prstGeom prst="rect">
            <a:avLst/>
          </a:prstGeom>
          <a:noFill/>
          <a:ln/>
        </p:spPr>
        <p:txBody>
          <a:bodyPr wrap="square" lIns="0" tIns="0" rIns="0" bIns="0" rtlCol="0" anchor="ctr"/>
          <a:lstStyle/>
          <a:p>
            <a:pPr algn="l" indent="0" marL="0">
              <a:buNone/>
            </a:pPr>
            <a:r>
              <a:rPr lang="en-US" sz="3000" b="1" dirty="0">
                <a:solidFill>
                  <a:srgbClr val="0B1F3A"/>
                </a:solidFill>
                <a:latin typeface="Cambria" pitchFamily="34" charset="0"/>
                <a:ea typeface="Cambria" pitchFamily="34" charset="-122"/>
                <a:cs typeface="Cambria" pitchFamily="34" charset="-120"/>
              </a:rPr>
              <a:t>2</a:t>
            </a:r>
            <a:endParaRPr lang="en-US" sz="3000" dirty="0"/>
          </a:p>
        </p:txBody>
      </p:sp>
      <p:sp>
        <p:nvSpPr>
          <p:cNvPr id="15" name="Text 13"/>
          <p:cNvSpPr/>
          <p:nvPr/>
        </p:nvSpPr>
        <p:spPr>
          <a:xfrm>
            <a:off x="9372600" y="2743200"/>
            <a:ext cx="2148840" cy="457200"/>
          </a:xfrm>
          <a:prstGeom prst="rect">
            <a:avLst/>
          </a:prstGeom>
          <a:noFill/>
          <a:ln/>
        </p:spPr>
        <p:txBody>
          <a:bodyPr wrap="square" lIns="0" tIns="0" rIns="0" bIns="0" rtlCol="0" anchor="ctr"/>
          <a:lstStyle/>
          <a:p>
            <a:pPr algn="l" indent="0" marL="0">
              <a:buNone/>
            </a:pPr>
            <a:r>
              <a:rPr lang="en-US" sz="1100" dirty="0">
                <a:solidFill>
                  <a:srgbClr val="7A8B9A"/>
                </a:solidFill>
                <a:latin typeface="Calibri" pitchFamily="34" charset="0"/>
                <a:ea typeface="Calibri" pitchFamily="34" charset="-122"/>
                <a:cs typeface="Calibri" pitchFamily="34" charset="-120"/>
              </a:rPr>
              <a:t>Genders Recorded</a:t>
            </a:r>
            <a:endParaRPr lang="en-US" sz="1100" dirty="0"/>
          </a:p>
        </p:txBody>
      </p:sp>
      <p:sp>
        <p:nvSpPr>
          <p:cNvPr id="16" name="Text 14"/>
          <p:cNvSpPr/>
          <p:nvPr/>
        </p:nvSpPr>
        <p:spPr>
          <a:xfrm>
            <a:off x="640080" y="3749040"/>
            <a:ext cx="10424160" cy="1188720"/>
          </a:xfrm>
          <a:prstGeom prst="rect">
            <a:avLst/>
          </a:prstGeom>
          <a:noFill/>
          <a:ln/>
        </p:spPr>
        <p:txBody>
          <a:bodyPr wrap="square" lIns="0" tIns="0" rIns="0" bIns="0" rtlCol="0" anchor="ctr"/>
          <a:lstStyle/>
          <a:p>
            <a:pPr indent="0" marL="0">
              <a:lnSpc>
                <a:spcPct val="135000"/>
              </a:lnSpc>
              <a:buNone/>
            </a:pPr>
            <a:r>
              <a:rPr lang="en-US" sz="1350" dirty="0">
                <a:solidFill>
                  <a:srgbClr val="33414F"/>
                </a:solidFill>
                <a:latin typeface="Calibri" pitchFamily="34" charset="0"/>
                <a:ea typeface="Calibri" pitchFamily="34" charset="-122"/>
                <a:cs typeface="Calibri" pitchFamily="34" charset="-120"/>
              </a:rPr>
              <a:t>Historical accounts put roughly 2,224 people aboard the RMS Titanic. After removing blanks, handling outliers, and remodeling the Kaggle dataset for accuracy, 714 records had complete class, gender, and survival data usable for analysis. Every percentage in this deck is calculated against the 714-record sample — the historical figure is reported separately, never blended in.</a:t>
            </a:r>
            <a:endParaRPr lang="en-US" sz="1350" dirty="0"/>
          </a:p>
        </p:txBody>
      </p:sp>
      <p:sp>
        <p:nvSpPr>
          <p:cNvPr id="17" name="Text 15"/>
          <p:cNvSpPr/>
          <p:nvPr/>
        </p:nvSpPr>
        <p:spPr>
          <a:xfrm>
            <a:off x="640080" y="5029200"/>
            <a:ext cx="5486400" cy="365760"/>
          </a:xfrm>
          <a:prstGeom prst="rect">
            <a:avLst/>
          </a:prstGeom>
          <a:noFill/>
          <a:ln/>
        </p:spPr>
        <p:txBody>
          <a:bodyPr wrap="square" lIns="0" tIns="0" rIns="0" bIns="0" rtlCol="0" anchor="ctr"/>
          <a:lstStyle/>
          <a:p>
            <a:pPr indent="0" marL="0">
              <a:buNone/>
            </a:pPr>
            <a:r>
              <a:rPr lang="en-US" sz="1400" b="1" dirty="0">
                <a:solidFill>
                  <a:srgbClr val="2C3E50"/>
                </a:solidFill>
                <a:latin typeface="Calibri" pitchFamily="34" charset="0"/>
                <a:ea typeface="Calibri" pitchFamily="34" charset="-122"/>
                <a:cs typeface="Calibri" pitchFamily="34" charset="-120"/>
              </a:rPr>
              <a:t>Sample composition</a:t>
            </a:r>
            <a:endParaRPr lang="en-US" sz="1400" dirty="0"/>
          </a:p>
        </p:txBody>
      </p:sp>
      <p:graphicFrame>
        <p:nvGraphicFramePr>
          <p:cNvPr id="18" name="Chart 0" descr=""/>
          <p:cNvGraphicFramePr/>
          <p:nvPr/>
        </p:nvGraphicFramePr>
        <p:xfrm>
          <a:off x="640080" y="5394960"/>
          <a:ext cx="5029200" cy="1280160"/>
        </p:xfrm>
        <a:graphic xmlns:a="http://schemas.openxmlformats.org/drawingml/2006/main">
          <a:graphicData uri="http://schemas.openxmlformats.org/drawingml/2006/chart">
            <c:chart xmlns:c="http://schemas.openxmlformats.org/drawingml/2006/chart" r:id="rId1"/>
          </a:graphicData>
        </a:graphic>
      </p:graphicFrame>
      <p:graphicFrame>
        <p:nvGraphicFramePr>
          <p:cNvPr id="19" name="Chart 1" descr=""/>
          <p:cNvGraphicFramePr/>
          <p:nvPr/>
        </p:nvGraphicFramePr>
        <p:xfrm>
          <a:off x="6035040" y="5257800"/>
          <a:ext cx="2926080" cy="1417320"/>
        </p:xfrm>
        <a:graphic xmlns:a="http://schemas.openxmlformats.org/drawingml/2006/main">
          <a:graphicData uri="http://schemas.openxmlformats.org/drawingml/2006/chart">
            <c:chart xmlns:c="http://schemas.openxmlformats.org/drawingml/2006/chart" r:id="rId2"/>
          </a:graphicData>
        </a:graphic>
      </p:graphicFrame>
      <p:sp>
        <p:nvSpPr>
          <p:cNvPr id="20" name="Text 16"/>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7A8B9A"/>
                </a:solidFill>
                <a:latin typeface="Calibri" pitchFamily="34" charset="0"/>
                <a:ea typeface="Calibri" pitchFamily="34" charset="-122"/>
                <a:cs typeface="Calibri" pitchFamily="34" charset="-120"/>
              </a:rPr>
              <a:t>Voyage of Fate — Titanic Survival Analysis</a:t>
            </a:r>
            <a:endParaRPr lang="en-US" sz="900" dirty="0"/>
          </a:p>
        </p:txBody>
      </p:sp>
      <p:sp>
        <p:nvSpPr>
          <p:cNvPr id="21" name="Text 17"/>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7A8B9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200" b="1" dirty="0">
                <a:solidFill>
                  <a:srgbClr val="5DADE2"/>
                </a:solidFill>
                <a:latin typeface="Calibri" pitchFamily="34" charset="0"/>
                <a:ea typeface="Calibri" pitchFamily="34" charset="-122"/>
                <a:cs typeface="Calibri" pitchFamily="34" charset="-120"/>
              </a:rPr>
              <a:t>03 · Findings</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Three classes, three different fates</a:t>
            </a:r>
            <a:endParaRPr lang="en-US" sz="2800" dirty="0"/>
          </a:p>
        </p:txBody>
      </p:sp>
      <p:graphicFrame>
        <p:nvGraphicFramePr>
          <p:cNvPr id="4" name="Chart 0" descr=""/>
          <p:cNvGraphicFramePr/>
          <p:nvPr/>
        </p:nvGraphicFramePr>
        <p:xfrm>
          <a:off x="640080" y="173736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589520" y="1828800"/>
            <a:ext cx="3931920" cy="822960"/>
          </a:xfrm>
          <a:prstGeom prst="rect">
            <a:avLst/>
          </a:prstGeom>
          <a:noFill/>
          <a:ln/>
        </p:spPr>
        <p:txBody>
          <a:bodyPr wrap="square" lIns="0" tIns="0" rIns="0" bIns="0" rtlCol="0" anchor="ctr"/>
          <a:lstStyle/>
          <a:p>
            <a:pPr algn="l" indent="0" marL="0">
              <a:buNone/>
            </a:pPr>
            <a:r>
              <a:rPr lang="en-US" sz="3400" b="1" dirty="0">
                <a:solidFill>
                  <a:srgbClr val="0B1F3A"/>
                </a:solidFill>
                <a:latin typeface="Cambria" pitchFamily="34" charset="0"/>
                <a:ea typeface="Cambria" pitchFamily="34" charset="-122"/>
                <a:cs typeface="Cambria" pitchFamily="34" charset="-120"/>
              </a:rPr>
              <a:t>355</a:t>
            </a:r>
            <a:endParaRPr lang="en-US" sz="3400" dirty="0"/>
          </a:p>
        </p:txBody>
      </p:sp>
      <p:sp>
        <p:nvSpPr>
          <p:cNvPr id="6" name="Text 3"/>
          <p:cNvSpPr/>
          <p:nvPr/>
        </p:nvSpPr>
        <p:spPr>
          <a:xfrm>
            <a:off x="7589520" y="2606040"/>
            <a:ext cx="3931920" cy="457200"/>
          </a:xfrm>
          <a:prstGeom prst="rect">
            <a:avLst/>
          </a:prstGeom>
          <a:noFill/>
          <a:ln/>
        </p:spPr>
        <p:txBody>
          <a:bodyPr wrap="square" lIns="0" tIns="0" rIns="0" bIns="0" rtlCol="0" anchor="ctr"/>
          <a:lstStyle/>
          <a:p>
            <a:pPr algn="l" indent="0" marL="0">
              <a:buNone/>
            </a:pPr>
            <a:r>
              <a:rPr lang="en-US" sz="1100" dirty="0">
                <a:solidFill>
                  <a:srgbClr val="7A8B9A"/>
                </a:solidFill>
                <a:latin typeface="Calibri" pitchFamily="34" charset="0"/>
                <a:ea typeface="Calibri" pitchFamily="34" charset="-122"/>
                <a:cs typeface="Calibri" pitchFamily="34" charset="-120"/>
              </a:rPr>
              <a:t>Third Class passengers — 49.7% of the sample, the largest group</a:t>
            </a:r>
            <a:endParaRPr lang="en-US" sz="1100" dirty="0"/>
          </a:p>
        </p:txBody>
      </p:sp>
      <p:sp>
        <p:nvSpPr>
          <p:cNvPr id="7" name="Text 4"/>
          <p:cNvSpPr/>
          <p:nvPr/>
        </p:nvSpPr>
        <p:spPr>
          <a:xfrm>
            <a:off x="7589520" y="3108960"/>
            <a:ext cx="3931920" cy="822960"/>
          </a:xfrm>
          <a:prstGeom prst="rect">
            <a:avLst/>
          </a:prstGeom>
          <a:noFill/>
          <a:ln/>
        </p:spPr>
        <p:txBody>
          <a:bodyPr wrap="square" lIns="0" tIns="0" rIns="0" bIns="0" rtlCol="0" anchor="ctr"/>
          <a:lstStyle/>
          <a:p>
            <a:pPr algn="l" indent="0" marL="0">
              <a:buNone/>
            </a:pPr>
            <a:r>
              <a:rPr lang="en-US" sz="3400" b="1" dirty="0">
                <a:solidFill>
                  <a:srgbClr val="5DADE2"/>
                </a:solidFill>
                <a:latin typeface="Cambria" pitchFamily="34" charset="0"/>
                <a:ea typeface="Cambria" pitchFamily="34" charset="-122"/>
                <a:cs typeface="Cambria" pitchFamily="34" charset="-120"/>
              </a:rPr>
              <a:t>2.7×</a:t>
            </a:r>
            <a:endParaRPr lang="en-US" sz="3400" dirty="0"/>
          </a:p>
        </p:txBody>
      </p:sp>
      <p:sp>
        <p:nvSpPr>
          <p:cNvPr id="8" name="Text 5"/>
          <p:cNvSpPr/>
          <p:nvPr/>
        </p:nvSpPr>
        <p:spPr>
          <a:xfrm>
            <a:off x="7589520" y="3886200"/>
            <a:ext cx="3931920" cy="457200"/>
          </a:xfrm>
          <a:prstGeom prst="rect">
            <a:avLst/>
          </a:prstGeom>
          <a:noFill/>
          <a:ln/>
        </p:spPr>
        <p:txBody>
          <a:bodyPr wrap="square" lIns="0" tIns="0" rIns="0" bIns="0" rtlCol="0" anchor="ctr"/>
          <a:lstStyle/>
          <a:p>
            <a:pPr algn="l" indent="0" marL="0">
              <a:buNone/>
            </a:pPr>
            <a:r>
              <a:rPr lang="en-US" sz="1100" dirty="0">
                <a:solidFill>
                  <a:srgbClr val="7A8B9A"/>
                </a:solidFill>
                <a:latin typeface="Calibri" pitchFamily="34" charset="0"/>
                <a:ea typeface="Calibri" pitchFamily="34" charset="-122"/>
                <a:cs typeface="Calibri" pitchFamily="34" charset="-120"/>
              </a:rPr>
              <a:t>First Class survival rate vs. Third Class (65.6% vs. 23.9%)</a:t>
            </a:r>
            <a:endParaRPr lang="en-US" sz="1100" dirty="0"/>
          </a:p>
        </p:txBody>
      </p:sp>
      <p:sp>
        <p:nvSpPr>
          <p:cNvPr id="9" name="Text 6"/>
          <p:cNvSpPr/>
          <p:nvPr/>
        </p:nvSpPr>
        <p:spPr>
          <a:xfrm>
            <a:off x="7589520" y="4480560"/>
            <a:ext cx="3931920" cy="1097280"/>
          </a:xfrm>
          <a:prstGeom prst="rect">
            <a:avLst/>
          </a:prstGeom>
          <a:noFill/>
          <a:ln/>
        </p:spPr>
        <p:txBody>
          <a:bodyPr wrap="square" lIns="0" tIns="0" rIns="0" bIns="0" rtlCol="0" anchor="ctr"/>
          <a:lstStyle/>
          <a:p>
            <a:pPr indent="0" marL="0">
              <a:lnSpc>
                <a:spcPct val="130000"/>
              </a:lnSpc>
              <a:buNone/>
            </a:pPr>
            <a:r>
              <a:rPr lang="en-US" sz="1250" i="1" dirty="0">
                <a:solidFill>
                  <a:srgbClr val="7A8B9A"/>
                </a:solidFill>
                <a:latin typeface="Calibri" pitchFamily="34" charset="0"/>
                <a:ea typeface="Calibri" pitchFamily="34" charset="-122"/>
                <a:cs typeface="Calibri" pitchFamily="34" charset="-120"/>
              </a:rPr>
              <a:t>Third Class carried nearly half of all sampled passengers but posted the lowest survival rate by a wide margin.</a:t>
            </a:r>
            <a:endParaRPr lang="en-US" sz="1250" dirty="0"/>
          </a:p>
        </p:txBody>
      </p:sp>
      <p:sp>
        <p:nvSpPr>
          <p:cNvPr id="10" name="Text 7"/>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7A8B9A"/>
                </a:solidFill>
                <a:latin typeface="Calibri" pitchFamily="34" charset="0"/>
                <a:ea typeface="Calibri" pitchFamily="34" charset="-122"/>
                <a:cs typeface="Calibri" pitchFamily="34" charset="-120"/>
              </a:rPr>
              <a:t>Voyage of Fate — Titanic Survival Analysis</a:t>
            </a:r>
            <a:endParaRPr lang="en-US" sz="900" dirty="0"/>
          </a:p>
        </p:txBody>
      </p:sp>
      <p:sp>
        <p:nvSpPr>
          <p:cNvPr id="11" name="Text 8"/>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7A8B9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200" b="1" dirty="0">
                <a:solidFill>
                  <a:srgbClr val="5DADE2"/>
                </a:solidFill>
                <a:latin typeface="Calibri" pitchFamily="34" charset="0"/>
                <a:ea typeface="Calibri" pitchFamily="34" charset="-122"/>
                <a:cs typeface="Calibri" pitchFamily="34" charset="-120"/>
              </a:rPr>
              <a:t>03 · Findings</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Gender was the strongest signal</a:t>
            </a:r>
            <a:endParaRPr lang="en-US" sz="2800" dirty="0"/>
          </a:p>
        </p:txBody>
      </p:sp>
      <p:sp>
        <p:nvSpPr>
          <p:cNvPr id="4" name="Text 2"/>
          <p:cNvSpPr/>
          <p:nvPr/>
        </p:nvSpPr>
        <p:spPr>
          <a:xfrm>
            <a:off x="640080" y="2011680"/>
            <a:ext cx="3200400" cy="822960"/>
          </a:xfrm>
          <a:prstGeom prst="rect">
            <a:avLst/>
          </a:prstGeom>
          <a:noFill/>
          <a:ln/>
        </p:spPr>
        <p:txBody>
          <a:bodyPr wrap="square" lIns="0" tIns="0" rIns="0" bIns="0" rtlCol="0" anchor="ctr"/>
          <a:lstStyle/>
          <a:p>
            <a:pPr algn="l" indent="0" marL="0">
              <a:buNone/>
            </a:pPr>
            <a:r>
              <a:rPr lang="en-US" sz="4600" b="1" dirty="0">
                <a:solidFill>
                  <a:srgbClr val="5DADE2"/>
                </a:solidFill>
                <a:latin typeface="Cambria" pitchFamily="34" charset="0"/>
                <a:ea typeface="Cambria" pitchFamily="34" charset="-122"/>
                <a:cs typeface="Cambria" pitchFamily="34" charset="-120"/>
              </a:rPr>
              <a:t>75.5%</a:t>
            </a:r>
            <a:endParaRPr lang="en-US" sz="4600" dirty="0"/>
          </a:p>
        </p:txBody>
      </p:sp>
      <p:sp>
        <p:nvSpPr>
          <p:cNvPr id="5" name="Text 3"/>
          <p:cNvSpPr/>
          <p:nvPr/>
        </p:nvSpPr>
        <p:spPr>
          <a:xfrm>
            <a:off x="640080" y="2788920"/>
            <a:ext cx="3200400" cy="457200"/>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Female survival rate (197 of 261)</a:t>
            </a:r>
            <a:endParaRPr lang="en-US" sz="1100" dirty="0"/>
          </a:p>
        </p:txBody>
      </p:sp>
      <p:sp>
        <p:nvSpPr>
          <p:cNvPr id="6" name="Text 4"/>
          <p:cNvSpPr/>
          <p:nvPr/>
        </p:nvSpPr>
        <p:spPr>
          <a:xfrm>
            <a:off x="4206240" y="2011680"/>
            <a:ext cx="3200400" cy="822960"/>
          </a:xfrm>
          <a:prstGeom prst="rect">
            <a:avLst/>
          </a:prstGeom>
          <a:noFill/>
          <a:ln/>
        </p:spPr>
        <p:txBody>
          <a:bodyPr wrap="square" lIns="0" tIns="0" rIns="0" bIns="0" rtlCol="0" anchor="ctr"/>
          <a:lstStyle/>
          <a:p>
            <a:pPr algn="l" indent="0" marL="0">
              <a:buNone/>
            </a:pPr>
            <a:r>
              <a:rPr lang="en-US" sz="4600" b="1" dirty="0">
                <a:solidFill>
                  <a:srgbClr val="FFFFFF"/>
                </a:solidFill>
                <a:latin typeface="Cambria" pitchFamily="34" charset="0"/>
                <a:ea typeface="Cambria" pitchFamily="34" charset="-122"/>
                <a:cs typeface="Cambria" pitchFamily="34" charset="-120"/>
              </a:rPr>
              <a:t>20.5%</a:t>
            </a:r>
            <a:endParaRPr lang="en-US" sz="4600" dirty="0"/>
          </a:p>
        </p:txBody>
      </p:sp>
      <p:sp>
        <p:nvSpPr>
          <p:cNvPr id="7" name="Text 5"/>
          <p:cNvSpPr/>
          <p:nvPr/>
        </p:nvSpPr>
        <p:spPr>
          <a:xfrm>
            <a:off x="4206240" y="2788920"/>
            <a:ext cx="3200400" cy="457200"/>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Male survival rate (93 of 453)</a:t>
            </a:r>
            <a:endParaRPr lang="en-US" sz="1100" dirty="0"/>
          </a:p>
        </p:txBody>
      </p:sp>
      <p:sp>
        <p:nvSpPr>
          <p:cNvPr id="8" name="Text 6"/>
          <p:cNvSpPr/>
          <p:nvPr/>
        </p:nvSpPr>
        <p:spPr>
          <a:xfrm>
            <a:off x="7772400" y="2011680"/>
            <a:ext cx="3474720" cy="822960"/>
          </a:xfrm>
          <a:prstGeom prst="rect">
            <a:avLst/>
          </a:prstGeom>
          <a:noFill/>
          <a:ln/>
        </p:spPr>
        <p:txBody>
          <a:bodyPr wrap="square" lIns="0" tIns="0" rIns="0" bIns="0" rtlCol="0" anchor="ctr"/>
          <a:lstStyle/>
          <a:p>
            <a:pPr algn="l" indent="0" marL="0">
              <a:buNone/>
            </a:pPr>
            <a:r>
              <a:rPr lang="en-US" sz="4600" b="1" dirty="0">
                <a:solidFill>
                  <a:srgbClr val="5DADE2"/>
                </a:solidFill>
                <a:latin typeface="Cambria" pitchFamily="34" charset="0"/>
                <a:ea typeface="Cambria" pitchFamily="34" charset="-122"/>
                <a:cs typeface="Cambria" pitchFamily="34" charset="-120"/>
              </a:rPr>
              <a:t>3.7×</a:t>
            </a:r>
            <a:endParaRPr lang="en-US" sz="4600" dirty="0"/>
          </a:p>
        </p:txBody>
      </p:sp>
      <p:sp>
        <p:nvSpPr>
          <p:cNvPr id="9" name="Text 7"/>
          <p:cNvSpPr/>
          <p:nvPr/>
        </p:nvSpPr>
        <p:spPr>
          <a:xfrm>
            <a:off x="7772400" y="2788920"/>
            <a:ext cx="3474720" cy="457200"/>
          </a:xfrm>
          <a:prstGeom prst="rect">
            <a:avLst/>
          </a:prstGeom>
          <a:noFill/>
          <a:ln/>
        </p:spPr>
        <p:txBody>
          <a:bodyPr wrap="square" lIns="0" tIns="0" rIns="0" bIns="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Higher survival odds for women vs. men</a:t>
            </a:r>
            <a:endParaRPr lang="en-US" sz="1100" dirty="0"/>
          </a:p>
        </p:txBody>
      </p:sp>
      <p:sp>
        <p:nvSpPr>
          <p:cNvPr id="10" name="Shape 8"/>
          <p:cNvSpPr/>
          <p:nvPr/>
        </p:nvSpPr>
        <p:spPr>
          <a:xfrm>
            <a:off x="640080" y="3749040"/>
            <a:ext cx="10607040" cy="2286000"/>
          </a:xfrm>
          <a:prstGeom prst="roundRect">
            <a:avLst>
              <a:gd name="adj" fmla="val 2400"/>
            </a:avLst>
          </a:prstGeom>
          <a:solidFill>
            <a:srgbClr val="13294B"/>
          </a:solidFill>
          <a:ln w="12700">
            <a:solidFill>
              <a:srgbClr val="2C3E50"/>
            </a:solidFill>
            <a:prstDash val="solid"/>
          </a:ln>
        </p:spPr>
      </p:sp>
      <p:sp>
        <p:nvSpPr>
          <p:cNvPr id="11" name="Text 9"/>
          <p:cNvSpPr/>
          <p:nvPr/>
        </p:nvSpPr>
        <p:spPr>
          <a:xfrm>
            <a:off x="914400" y="3931920"/>
            <a:ext cx="10058400" cy="320040"/>
          </a:xfrm>
          <a:prstGeom prst="rect">
            <a:avLst/>
          </a:prstGeom>
          <a:noFill/>
          <a:ln/>
        </p:spPr>
        <p:txBody>
          <a:bodyPr wrap="square" lIns="0" tIns="0" rIns="0" bIns="0" rtlCol="0" anchor="ctr"/>
          <a:lstStyle/>
          <a:p>
            <a:pPr indent="0" marL="0">
              <a:buNone/>
            </a:pPr>
            <a:r>
              <a:rPr lang="en-US" sz="1100" b="1" dirty="0">
                <a:solidFill>
                  <a:srgbClr val="F5B942"/>
                </a:solidFill>
                <a:latin typeface="Calibri" pitchFamily="34" charset="0"/>
                <a:ea typeface="Calibri" pitchFamily="34" charset="-122"/>
                <a:cs typeface="Calibri" pitchFamily="34" charset="-120"/>
              </a:rPr>
              <a:t>A NUMBER WE CORRECTED</a:t>
            </a:r>
            <a:endParaRPr lang="en-US" sz="1100" dirty="0"/>
          </a:p>
        </p:txBody>
      </p:sp>
      <p:sp>
        <p:nvSpPr>
          <p:cNvPr id="12" name="Text 10"/>
          <p:cNvSpPr/>
          <p:nvPr/>
        </p:nvSpPr>
        <p:spPr>
          <a:xfrm>
            <a:off x="914400" y="4297680"/>
            <a:ext cx="10058400" cy="1554480"/>
          </a:xfrm>
          <a:prstGeom prst="rect">
            <a:avLst/>
          </a:prstGeom>
          <a:noFill/>
          <a:ln/>
        </p:spPr>
        <p:txBody>
          <a:bodyPr wrap="square" lIns="0" tIns="0" rIns="0" bIns="0" rtlCol="0" anchor="ctr"/>
          <a:lstStyle/>
          <a:p>
            <a:pPr indent="0" marL="0">
              <a:lnSpc>
                <a:spcPct val="140000"/>
              </a:lnSpc>
              <a:buNone/>
            </a:pPr>
            <a:r>
              <a:rPr lang="en-US" sz="1400" dirty="0">
                <a:solidFill>
                  <a:srgbClr val="E8EDF2"/>
                </a:solidFill>
                <a:latin typeface="Calibri" pitchFamily="34" charset="0"/>
                <a:ea typeface="Calibri" pitchFamily="34" charset="-122"/>
                <a:cs typeface="Calibri" pitchFamily="34" charset="-120"/>
              </a:rPr>
              <a:t>An earlier draft of this analysis stated the male survival rate as 28.8%. Recomputing directly from the class × gender breakdown (93 male survivors ÷ 453 male passengers) gives 20.5% — not 28.8%. The corrected figure is used throughout this analysis.</a:t>
            </a:r>
            <a:endParaRPr lang="en-US" sz="1400" dirty="0"/>
          </a:p>
        </p:txBody>
      </p:sp>
      <p:sp>
        <p:nvSpPr>
          <p:cNvPr id="13" name="Text 11"/>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7A8B9A"/>
                </a:solidFill>
                <a:latin typeface="Calibri" pitchFamily="34" charset="0"/>
                <a:ea typeface="Calibri" pitchFamily="34" charset="-122"/>
                <a:cs typeface="Calibri" pitchFamily="34" charset="-120"/>
              </a:rPr>
              <a:t>Voyage of Fate — Titanic Survival Analysis</a:t>
            </a:r>
            <a:endParaRPr lang="en-US" sz="900" dirty="0"/>
          </a:p>
        </p:txBody>
      </p:sp>
      <p:sp>
        <p:nvSpPr>
          <p:cNvPr id="14" name="Text 12"/>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7A8B9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65760"/>
          </a:xfrm>
          <a:prstGeom prst="rect">
            <a:avLst/>
          </a:prstGeom>
          <a:noFill/>
          <a:ln/>
        </p:spPr>
        <p:txBody>
          <a:bodyPr wrap="square" lIns="0" tIns="0" rIns="0" bIns="0" rtlCol="0" anchor="ctr"/>
          <a:lstStyle/>
          <a:p>
            <a:pPr indent="0" marL="0">
              <a:buNone/>
            </a:pPr>
            <a:r>
              <a:rPr lang="en-US" sz="1200" b="1" dirty="0">
                <a:solidFill>
                  <a:srgbClr val="5DADE2"/>
                </a:solidFill>
                <a:latin typeface="Calibri" pitchFamily="34" charset="0"/>
                <a:ea typeface="Calibri" pitchFamily="34" charset="-122"/>
                <a:cs typeface="Calibri" pitchFamily="34" charset="-120"/>
              </a:rPr>
              <a:t>03 · Findings</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The gender gap inside every class</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315200" cy="2377440"/>
        </p:xfrm>
        <a:graphic>
          <a:graphicData uri="http://schemas.openxmlformats.org/drawingml/2006/table">
            <a:tbl>
              <a:tblPr/>
              <a:tblGrid>
                <a:gridCol w="2377440"/>
                <a:gridCol w="2468880"/>
                <a:gridCol w="2468880"/>
              </a:tblGrid>
              <a:tr h="5943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Female Survival Rate</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Male Survival Rate</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0B1F3A"/>
                    </a:solidFill>
                  </a:tcPr>
                </a:tc>
              </a:tr>
              <a:tr h="5943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First Class</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indent="0" marL="0">
                        <a:buNone/>
                      </a:pPr>
                      <a:r>
                        <a:rPr lang="en-US" sz="1300" b="1" dirty="0">
                          <a:solidFill>
                            <a:srgbClr val="1B7A3D"/>
                          </a:solidFill>
                          <a:latin typeface="Calibri" pitchFamily="34" charset="0"/>
                          <a:ea typeface="Calibri" pitchFamily="34" charset="-122"/>
                          <a:cs typeface="Calibri" pitchFamily="34" charset="-120"/>
                        </a:rPr>
                        <a:t>96.5% (82 of 85)</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39.6% (40 of 101)</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r>
              <a:tr h="5943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Second Class</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indent="0" marL="0">
                        <a:buNone/>
                      </a:pPr>
                      <a:r>
                        <a:rPr lang="en-US" sz="1300" b="1" dirty="0">
                          <a:solidFill>
                            <a:srgbClr val="1B7A3D"/>
                          </a:solidFill>
                          <a:latin typeface="Calibri" pitchFamily="34" charset="0"/>
                          <a:ea typeface="Calibri" pitchFamily="34" charset="-122"/>
                          <a:cs typeface="Calibri" pitchFamily="34" charset="-120"/>
                        </a:rPr>
                        <a:t>91.9% (68 of 74)</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15.2% (15 of 99)</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r>
              <a:tr h="594360">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Third Class</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indent="0" marL="0">
                        <a:buNone/>
                      </a:pPr>
                      <a:r>
                        <a:rPr lang="en-US" sz="1300" b="1" dirty="0">
                          <a:solidFill>
                            <a:srgbClr val="B8860B"/>
                          </a:solidFill>
                          <a:latin typeface="Calibri" pitchFamily="34" charset="0"/>
                          <a:ea typeface="Calibri" pitchFamily="34" charset="-122"/>
                          <a:cs typeface="Calibri" pitchFamily="34" charset="-120"/>
                        </a:rPr>
                        <a:t>46.1% (47 of 102)</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15.0% (38 of 253)</a:t>
                      </a:r>
                      <a:endParaRPr lang="en-US" sz="1300" dirty="0">
                        <a:latin typeface="Calibri" charset="0"/>
                        <a:ea typeface="Calibri" charset="0"/>
                        <a:cs typeface="Calibri" charset="0"/>
                      </a:endParaRPr>
                    </a:p>
                  </a:txBody>
                  <a:tcPr marL="91440" marR="91440" marT="45720" marB="45720"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r>
            </a:tbl>
          </a:graphicData>
        </a:graphic>
      </p:graphicFrame>
      <p:sp>
        <p:nvSpPr>
          <p:cNvPr id="5" name="Shape 2"/>
          <p:cNvSpPr/>
          <p:nvPr/>
        </p:nvSpPr>
        <p:spPr>
          <a:xfrm>
            <a:off x="8229600" y="1828800"/>
            <a:ext cx="3291840" cy="4023360"/>
          </a:xfrm>
          <a:prstGeom prst="roundRect">
            <a:avLst>
              <a:gd name="adj" fmla="val 1667"/>
            </a:avLst>
          </a:prstGeom>
          <a:solidFill>
            <a:srgbClr val="F4F6F8"/>
          </a:solidFill>
          <a:ln w="12700">
            <a:solidFill>
              <a:srgbClr val="DCE3EA"/>
            </a:solidFill>
            <a:prstDash val="solid"/>
          </a:ln>
        </p:spPr>
      </p:sp>
      <p:sp>
        <p:nvSpPr>
          <p:cNvPr id="6" name="Text 3"/>
          <p:cNvSpPr/>
          <p:nvPr/>
        </p:nvSpPr>
        <p:spPr>
          <a:xfrm>
            <a:off x="8503920" y="2011680"/>
            <a:ext cx="2743200" cy="64008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85.9%</a:t>
            </a:r>
            <a:endParaRPr lang="en-US" sz="3200" dirty="0"/>
          </a:p>
        </p:txBody>
      </p:sp>
      <p:sp>
        <p:nvSpPr>
          <p:cNvPr id="7" name="Text 4"/>
          <p:cNvSpPr/>
          <p:nvPr/>
        </p:nvSpPr>
        <p:spPr>
          <a:xfrm>
            <a:off x="8503920" y="2651760"/>
            <a:ext cx="2743200" cy="1005840"/>
          </a:xfrm>
          <a:prstGeom prst="rect">
            <a:avLst/>
          </a:prstGeom>
          <a:noFill/>
          <a:ln/>
        </p:spPr>
        <p:txBody>
          <a:bodyPr wrap="square" lIns="0" tIns="0" rIns="0" bIns="0" rtlCol="0" anchor="ctr"/>
          <a:lstStyle/>
          <a:p>
            <a:pPr indent="0" marL="0">
              <a:lnSpc>
                <a:spcPct val="130000"/>
              </a:lnSpc>
              <a:buNone/>
            </a:pPr>
            <a:r>
              <a:rPr lang="en-US" sz="1200" dirty="0">
                <a:solidFill>
                  <a:srgbClr val="7A8B9A"/>
                </a:solidFill>
                <a:latin typeface="Calibri" pitchFamily="34" charset="0"/>
                <a:ea typeface="Calibri" pitchFamily="34" charset="-122"/>
                <a:cs typeface="Calibri" pitchFamily="34" charset="-120"/>
              </a:rPr>
              <a:t>of ALL female non-survivors in the sample were in Third Class (55 of 64)</a:t>
            </a:r>
            <a:endParaRPr lang="en-US" sz="1200" dirty="0"/>
          </a:p>
        </p:txBody>
      </p:sp>
      <p:sp>
        <p:nvSpPr>
          <p:cNvPr id="8" name="Shape 5"/>
          <p:cNvSpPr/>
          <p:nvPr/>
        </p:nvSpPr>
        <p:spPr>
          <a:xfrm>
            <a:off x="8503920" y="3794760"/>
            <a:ext cx="2468880" cy="0"/>
          </a:xfrm>
          <a:prstGeom prst="line">
            <a:avLst/>
          </a:prstGeom>
          <a:noFill/>
          <a:ln w="12700">
            <a:solidFill>
              <a:srgbClr val="DCE3EA"/>
            </a:solidFill>
            <a:prstDash val="solid"/>
          </a:ln>
        </p:spPr>
      </p:sp>
      <p:sp>
        <p:nvSpPr>
          <p:cNvPr id="9" name="Text 6"/>
          <p:cNvSpPr/>
          <p:nvPr/>
        </p:nvSpPr>
        <p:spPr>
          <a:xfrm>
            <a:off x="8503920" y="3977640"/>
            <a:ext cx="2743200" cy="1737360"/>
          </a:xfrm>
          <a:prstGeom prst="rect">
            <a:avLst/>
          </a:prstGeom>
          <a:noFill/>
          <a:ln/>
        </p:spPr>
        <p:txBody>
          <a:bodyPr wrap="square" lIns="0" tIns="0" rIns="0" bIns="0" rtlCol="0" anchor="ctr"/>
          <a:lstStyle/>
          <a:p>
            <a:pPr indent="0" marL="0">
              <a:lnSpc>
                <a:spcPct val="135000"/>
              </a:lnSpc>
              <a:buNone/>
            </a:pPr>
            <a:r>
              <a:rPr lang="en-US" sz="1250" i="1" dirty="0">
                <a:solidFill>
                  <a:srgbClr val="2C3E50"/>
                </a:solidFill>
                <a:latin typeface="Calibri" pitchFamily="34" charset="0"/>
                <a:ea typeface="Calibri" pitchFamily="34" charset="-122"/>
                <a:cs typeface="Calibri" pitchFamily="34" charset="-120"/>
              </a:rPr>
              <a:t>“Women and children first” clearly shaped outcomes — but class determined how much that priority actually helped.</a:t>
            </a:r>
            <a:endParaRPr lang="en-US" sz="1250" dirty="0"/>
          </a:p>
        </p:txBody>
      </p:sp>
      <p:sp>
        <p:nvSpPr>
          <p:cNvPr id="10" name="Text 7"/>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7A8B9A"/>
                </a:solidFill>
                <a:latin typeface="Calibri" pitchFamily="34" charset="0"/>
                <a:ea typeface="Calibri" pitchFamily="34" charset="-122"/>
                <a:cs typeface="Calibri" pitchFamily="34" charset="-120"/>
              </a:rPr>
              <a:t>Voyage of Fate — Titanic Survival Analysis</a:t>
            </a:r>
            <a:endParaRPr lang="en-US" sz="900" dirty="0"/>
          </a:p>
        </p:txBody>
      </p:sp>
      <p:sp>
        <p:nvSpPr>
          <p:cNvPr id="11" name="Text 8"/>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7A8B9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365760"/>
          </a:xfrm>
          <a:prstGeom prst="rect">
            <a:avLst/>
          </a:prstGeom>
          <a:noFill/>
          <a:ln/>
        </p:spPr>
        <p:txBody>
          <a:bodyPr wrap="square" lIns="0" tIns="0" rIns="0" bIns="0" rtlCol="0" anchor="ctr"/>
          <a:lstStyle/>
          <a:p>
            <a:pPr indent="0" marL="0">
              <a:buNone/>
            </a:pPr>
            <a:r>
              <a:rPr lang="en-US" sz="1200" b="1" dirty="0">
                <a:solidFill>
                  <a:srgbClr val="5DADE2"/>
                </a:solidFill>
                <a:latin typeface="Calibri" pitchFamily="34" charset="0"/>
                <a:ea typeface="Calibri" pitchFamily="34" charset="-122"/>
                <a:cs typeface="Calibri" pitchFamily="34" charset="-120"/>
              </a:rPr>
              <a:t>04 · Caveats &amp; Limitations</a:t>
            </a:r>
            <a:endParaRPr lang="en-US" sz="1200" dirty="0"/>
          </a:p>
        </p:txBody>
      </p:sp>
      <p:sp>
        <p:nvSpPr>
          <p:cNvPr id="3" name="Text 1"/>
          <p:cNvSpPr/>
          <p:nvPr/>
        </p:nvSpPr>
        <p:spPr>
          <a:xfrm>
            <a:off x="640080" y="822960"/>
            <a:ext cx="10515600" cy="731520"/>
          </a:xfrm>
          <a:prstGeom prst="rect">
            <a:avLst/>
          </a:prstGeom>
          <a:noFill/>
          <a:ln/>
        </p:spPr>
        <p:txBody>
          <a:bodyPr wrap="square" lIns="0" tIns="0" rIns="0" bIns="0" rtlCol="0" anchor="ctr"/>
          <a:lstStyle/>
          <a:p>
            <a:pPr indent="0" marL="0">
              <a:buNone/>
            </a:pPr>
            <a:r>
              <a:rPr lang="en-US" sz="2800" b="1" dirty="0">
                <a:solidFill>
                  <a:srgbClr val="0B1F3A"/>
                </a:solidFill>
                <a:latin typeface="Cambria" pitchFamily="34" charset="0"/>
                <a:ea typeface="Cambria" pitchFamily="34" charset="-122"/>
                <a:cs typeface="Cambria" pitchFamily="34" charset="-120"/>
              </a:rPr>
              <a:t>Reported honestly, not smoothed over</a:t>
            </a:r>
            <a:endParaRPr lang="en-US" sz="2800" dirty="0"/>
          </a:p>
        </p:txBody>
      </p:sp>
      <p:sp>
        <p:nvSpPr>
          <p:cNvPr id="4" name="Shape 2"/>
          <p:cNvSpPr/>
          <p:nvPr/>
        </p:nvSpPr>
        <p:spPr>
          <a:xfrm>
            <a:off x="640080" y="1828800"/>
            <a:ext cx="411480" cy="411480"/>
          </a:xfrm>
          <a:prstGeom prst="roundRect">
            <a:avLst>
              <a:gd name="adj" fmla="val 111111"/>
            </a:avLst>
          </a:prstGeom>
          <a:solidFill>
            <a:srgbClr val="0B1F3A"/>
          </a:solidFill>
          <a:ln/>
        </p:spPr>
      </p:sp>
      <p:sp>
        <p:nvSpPr>
          <p:cNvPr id="5" name="Text 3"/>
          <p:cNvSpPr/>
          <p:nvPr/>
        </p:nvSpPr>
        <p:spPr>
          <a:xfrm>
            <a:off x="640080" y="1828800"/>
            <a:ext cx="411480" cy="411480"/>
          </a:xfrm>
          <a:prstGeom prst="rect">
            <a:avLst/>
          </a:prstGeom>
          <a:noFill/>
          <a:ln/>
        </p:spPr>
        <p:txBody>
          <a:bodyPr wrap="square" lIns="0" tIns="0" rIns="0" bIns="0" rtlCol="0" anchor="ctr"/>
          <a:lstStyle/>
          <a:p>
            <a:pPr algn="ctr" indent="0" marL="0">
              <a:buNone/>
            </a:pPr>
            <a:r>
              <a:rPr lang="en-US" sz="1600" b="1" dirty="0">
                <a:solidFill>
                  <a:srgbClr val="5DADE2"/>
                </a:solidFill>
              </a:rPr>
              <a:t>!</a:t>
            </a:r>
            <a:endParaRPr lang="en-US" sz="1600" dirty="0"/>
          </a:p>
        </p:txBody>
      </p:sp>
      <p:sp>
        <p:nvSpPr>
          <p:cNvPr id="6" name="Text 4"/>
          <p:cNvSpPr/>
          <p:nvPr/>
        </p:nvSpPr>
        <p:spPr>
          <a:xfrm>
            <a:off x="1234440" y="1783080"/>
            <a:ext cx="9601200" cy="365760"/>
          </a:xfrm>
          <a:prstGeom prst="rect">
            <a:avLst/>
          </a:prstGeom>
          <a:noFill/>
          <a:ln/>
        </p:spPr>
        <p:txBody>
          <a:bodyPr wrap="square" lIns="0" tIns="0" rIns="0" bIns="0" rtlCol="0" anchor="ctr"/>
          <a:lstStyle/>
          <a:p>
            <a:pPr indent="0" marL="0">
              <a:buNone/>
            </a:pPr>
            <a:r>
              <a:rPr lang="en-US" sz="1500" b="1" dirty="0">
                <a:solidFill>
                  <a:srgbClr val="2C3E50"/>
                </a:solidFill>
                <a:latin typeface="Calibri" pitchFamily="34" charset="0"/>
                <a:ea typeface="Calibri" pitchFamily="34" charset="-122"/>
                <a:cs typeface="Calibri" pitchFamily="34" charset="-120"/>
              </a:rPr>
              <a:t>Sample vs. population</a:t>
            </a:r>
            <a:endParaRPr lang="en-US" sz="1500" dirty="0"/>
          </a:p>
        </p:txBody>
      </p:sp>
      <p:sp>
        <p:nvSpPr>
          <p:cNvPr id="7" name="Text 5"/>
          <p:cNvSpPr/>
          <p:nvPr/>
        </p:nvSpPr>
        <p:spPr>
          <a:xfrm>
            <a:off x="1234440" y="2148840"/>
            <a:ext cx="9601200" cy="502920"/>
          </a:xfrm>
          <a:prstGeom prst="rect">
            <a:avLst/>
          </a:prstGeom>
          <a:noFill/>
          <a:ln/>
        </p:spPr>
        <p:txBody>
          <a:bodyPr wrap="square" lIns="0" tIns="0" rIns="0" bIns="0" rtlCol="0" anchor="ctr"/>
          <a:lstStyle/>
          <a:p>
            <a:pPr indent="0" marL="0">
              <a:lnSpc>
                <a:spcPct val="125000"/>
              </a:lnSpc>
              <a:buNone/>
            </a:pPr>
            <a:r>
              <a:rPr lang="en-US" sz="1250" dirty="0">
                <a:solidFill>
                  <a:srgbClr val="33414F"/>
                </a:solidFill>
                <a:latin typeface="Calibri" pitchFamily="34" charset="0"/>
                <a:ea typeface="Calibri" pitchFamily="34" charset="-122"/>
                <a:cs typeface="Calibri" pitchFamily="34" charset="-120"/>
              </a:rPr>
              <a:t>All figures except the 31.9% historical rate describe the 714-record sample, not all 2,224 aboard.</a:t>
            </a:r>
            <a:endParaRPr lang="en-US" sz="1250" dirty="0"/>
          </a:p>
        </p:txBody>
      </p:sp>
      <p:sp>
        <p:nvSpPr>
          <p:cNvPr id="8" name="Shape 6"/>
          <p:cNvSpPr/>
          <p:nvPr/>
        </p:nvSpPr>
        <p:spPr>
          <a:xfrm>
            <a:off x="640080" y="2880360"/>
            <a:ext cx="411480" cy="411480"/>
          </a:xfrm>
          <a:prstGeom prst="roundRect">
            <a:avLst>
              <a:gd name="adj" fmla="val 111111"/>
            </a:avLst>
          </a:prstGeom>
          <a:solidFill>
            <a:srgbClr val="0B1F3A"/>
          </a:solidFill>
          <a:ln/>
        </p:spPr>
      </p:sp>
      <p:sp>
        <p:nvSpPr>
          <p:cNvPr id="9" name="Text 7"/>
          <p:cNvSpPr/>
          <p:nvPr/>
        </p:nvSpPr>
        <p:spPr>
          <a:xfrm>
            <a:off x="640080" y="2880360"/>
            <a:ext cx="411480" cy="411480"/>
          </a:xfrm>
          <a:prstGeom prst="rect">
            <a:avLst/>
          </a:prstGeom>
          <a:noFill/>
          <a:ln/>
        </p:spPr>
        <p:txBody>
          <a:bodyPr wrap="square" lIns="0" tIns="0" rIns="0" bIns="0" rtlCol="0" anchor="ctr"/>
          <a:lstStyle/>
          <a:p>
            <a:pPr algn="ctr" indent="0" marL="0">
              <a:buNone/>
            </a:pPr>
            <a:r>
              <a:rPr lang="en-US" sz="1600" b="1" dirty="0">
                <a:solidFill>
                  <a:srgbClr val="5DADE2"/>
                </a:solidFill>
              </a:rPr>
              <a:t>!</a:t>
            </a:r>
            <a:endParaRPr lang="en-US" sz="1600" dirty="0"/>
          </a:p>
        </p:txBody>
      </p:sp>
      <p:sp>
        <p:nvSpPr>
          <p:cNvPr id="10" name="Text 8"/>
          <p:cNvSpPr/>
          <p:nvPr/>
        </p:nvSpPr>
        <p:spPr>
          <a:xfrm>
            <a:off x="1234440" y="2834640"/>
            <a:ext cx="9601200" cy="365760"/>
          </a:xfrm>
          <a:prstGeom prst="rect">
            <a:avLst/>
          </a:prstGeom>
          <a:noFill/>
          <a:ln/>
        </p:spPr>
        <p:txBody>
          <a:bodyPr wrap="square" lIns="0" tIns="0" rIns="0" bIns="0" rtlCol="0" anchor="ctr"/>
          <a:lstStyle/>
          <a:p>
            <a:pPr indent="0" marL="0">
              <a:buNone/>
            </a:pPr>
            <a:r>
              <a:rPr lang="en-US" sz="1500" b="1" dirty="0">
                <a:solidFill>
                  <a:srgbClr val="2C3E50"/>
                </a:solidFill>
                <a:latin typeface="Calibri" pitchFamily="34" charset="0"/>
                <a:ea typeface="Calibri" pitchFamily="34" charset="-122"/>
                <a:cs typeface="Calibri" pitchFamily="34" charset="-120"/>
              </a:rPr>
              <a:t>Correlation, not causation</a:t>
            </a:r>
            <a:endParaRPr lang="en-US" sz="1500" dirty="0"/>
          </a:p>
        </p:txBody>
      </p:sp>
      <p:sp>
        <p:nvSpPr>
          <p:cNvPr id="11" name="Text 9"/>
          <p:cNvSpPr/>
          <p:nvPr/>
        </p:nvSpPr>
        <p:spPr>
          <a:xfrm>
            <a:off x="1234440" y="3200400"/>
            <a:ext cx="9601200" cy="502920"/>
          </a:xfrm>
          <a:prstGeom prst="rect">
            <a:avLst/>
          </a:prstGeom>
          <a:noFill/>
          <a:ln/>
        </p:spPr>
        <p:txBody>
          <a:bodyPr wrap="square" lIns="0" tIns="0" rIns="0" bIns="0" rtlCol="0" anchor="ctr"/>
          <a:lstStyle/>
          <a:p>
            <a:pPr indent="0" marL="0">
              <a:lnSpc>
                <a:spcPct val="125000"/>
              </a:lnSpc>
              <a:buNone/>
            </a:pPr>
            <a:r>
              <a:rPr lang="en-US" sz="1250" dirty="0">
                <a:solidFill>
                  <a:srgbClr val="33414F"/>
                </a:solidFill>
                <a:latin typeface="Calibri" pitchFamily="34" charset="0"/>
                <a:ea typeface="Calibri" pitchFamily="34" charset="-122"/>
                <a:cs typeface="Calibri" pitchFamily="34" charset="-120"/>
              </a:rPr>
              <a:t>Class and gender associate with survival here; the mechanism (lifeboat access, deck location) isn't proven by this dataset.</a:t>
            </a:r>
            <a:endParaRPr lang="en-US" sz="1250" dirty="0"/>
          </a:p>
        </p:txBody>
      </p:sp>
      <p:sp>
        <p:nvSpPr>
          <p:cNvPr id="12" name="Shape 10"/>
          <p:cNvSpPr/>
          <p:nvPr/>
        </p:nvSpPr>
        <p:spPr>
          <a:xfrm>
            <a:off x="640080" y="3931920"/>
            <a:ext cx="411480" cy="411480"/>
          </a:xfrm>
          <a:prstGeom prst="roundRect">
            <a:avLst>
              <a:gd name="adj" fmla="val 111111"/>
            </a:avLst>
          </a:prstGeom>
          <a:solidFill>
            <a:srgbClr val="0B1F3A"/>
          </a:solidFill>
          <a:ln/>
        </p:spPr>
      </p:sp>
      <p:sp>
        <p:nvSpPr>
          <p:cNvPr id="13" name="Text 11"/>
          <p:cNvSpPr/>
          <p:nvPr/>
        </p:nvSpPr>
        <p:spPr>
          <a:xfrm>
            <a:off x="640080" y="3931920"/>
            <a:ext cx="411480" cy="411480"/>
          </a:xfrm>
          <a:prstGeom prst="rect">
            <a:avLst/>
          </a:prstGeom>
          <a:noFill/>
          <a:ln/>
        </p:spPr>
        <p:txBody>
          <a:bodyPr wrap="square" lIns="0" tIns="0" rIns="0" bIns="0" rtlCol="0" anchor="ctr"/>
          <a:lstStyle/>
          <a:p>
            <a:pPr algn="ctr" indent="0" marL="0">
              <a:buNone/>
            </a:pPr>
            <a:r>
              <a:rPr lang="en-US" sz="1600" b="1" dirty="0">
                <a:solidFill>
                  <a:srgbClr val="5DADE2"/>
                </a:solidFill>
              </a:rPr>
              <a:t>!</a:t>
            </a:r>
            <a:endParaRPr lang="en-US" sz="1600" dirty="0"/>
          </a:p>
        </p:txBody>
      </p:sp>
      <p:sp>
        <p:nvSpPr>
          <p:cNvPr id="14" name="Text 12"/>
          <p:cNvSpPr/>
          <p:nvPr/>
        </p:nvSpPr>
        <p:spPr>
          <a:xfrm>
            <a:off x="1234440" y="3886200"/>
            <a:ext cx="9601200" cy="365760"/>
          </a:xfrm>
          <a:prstGeom prst="rect">
            <a:avLst/>
          </a:prstGeom>
          <a:noFill/>
          <a:ln/>
        </p:spPr>
        <p:txBody>
          <a:bodyPr wrap="square" lIns="0" tIns="0" rIns="0" bIns="0" rtlCol="0" anchor="ctr"/>
          <a:lstStyle/>
          <a:p>
            <a:pPr indent="0" marL="0">
              <a:buNone/>
            </a:pPr>
            <a:r>
              <a:rPr lang="en-US" sz="1500" b="1" dirty="0">
                <a:solidFill>
                  <a:srgbClr val="2C3E50"/>
                </a:solidFill>
                <a:latin typeface="Calibri" pitchFamily="34" charset="0"/>
                <a:ea typeface="Calibri" pitchFamily="34" charset="-122"/>
                <a:cs typeface="Calibri" pitchFamily="34" charset="-120"/>
              </a:rPr>
              <a:t>No age or fare data</a:t>
            </a:r>
            <a:endParaRPr lang="en-US" sz="1500" dirty="0"/>
          </a:p>
        </p:txBody>
      </p:sp>
      <p:sp>
        <p:nvSpPr>
          <p:cNvPr id="15" name="Text 13"/>
          <p:cNvSpPr/>
          <p:nvPr/>
        </p:nvSpPr>
        <p:spPr>
          <a:xfrm>
            <a:off x="1234440" y="4251960"/>
            <a:ext cx="9601200" cy="502920"/>
          </a:xfrm>
          <a:prstGeom prst="rect">
            <a:avLst/>
          </a:prstGeom>
          <a:noFill/>
          <a:ln/>
        </p:spPr>
        <p:txBody>
          <a:bodyPr wrap="square" lIns="0" tIns="0" rIns="0" bIns="0" rtlCol="0" anchor="ctr"/>
          <a:lstStyle/>
          <a:p>
            <a:pPr indent="0" marL="0">
              <a:lnSpc>
                <a:spcPct val="125000"/>
              </a:lnSpc>
              <a:buNone/>
            </a:pPr>
            <a:r>
              <a:rPr lang="en-US" sz="1250" dirty="0">
                <a:solidFill>
                  <a:srgbClr val="33414F"/>
                </a:solidFill>
                <a:latin typeface="Calibri" pitchFamily="34" charset="0"/>
                <a:ea typeface="Calibri" pitchFamily="34" charset="-122"/>
                <a:cs typeface="Calibri" pitchFamily="34" charset="-120"/>
              </a:rPr>
              <a:t>Natural next variables for extending this analysis — not included in this pass.</a:t>
            </a:r>
            <a:endParaRPr lang="en-US" sz="1250" dirty="0"/>
          </a:p>
        </p:txBody>
      </p:sp>
      <p:sp>
        <p:nvSpPr>
          <p:cNvPr id="16" name="Shape 14"/>
          <p:cNvSpPr/>
          <p:nvPr/>
        </p:nvSpPr>
        <p:spPr>
          <a:xfrm>
            <a:off x="640080" y="4983480"/>
            <a:ext cx="411480" cy="411480"/>
          </a:xfrm>
          <a:prstGeom prst="roundRect">
            <a:avLst>
              <a:gd name="adj" fmla="val 111111"/>
            </a:avLst>
          </a:prstGeom>
          <a:solidFill>
            <a:srgbClr val="0B1F3A"/>
          </a:solidFill>
          <a:ln/>
        </p:spPr>
      </p:sp>
      <p:sp>
        <p:nvSpPr>
          <p:cNvPr id="17" name="Text 15"/>
          <p:cNvSpPr/>
          <p:nvPr/>
        </p:nvSpPr>
        <p:spPr>
          <a:xfrm>
            <a:off x="640080" y="4983480"/>
            <a:ext cx="411480" cy="411480"/>
          </a:xfrm>
          <a:prstGeom prst="rect">
            <a:avLst/>
          </a:prstGeom>
          <a:noFill/>
          <a:ln/>
        </p:spPr>
        <p:txBody>
          <a:bodyPr wrap="square" lIns="0" tIns="0" rIns="0" bIns="0" rtlCol="0" anchor="ctr"/>
          <a:lstStyle/>
          <a:p>
            <a:pPr algn="ctr" indent="0" marL="0">
              <a:buNone/>
            </a:pPr>
            <a:r>
              <a:rPr lang="en-US" sz="1600" b="1" dirty="0">
                <a:solidFill>
                  <a:srgbClr val="5DADE2"/>
                </a:solidFill>
              </a:rPr>
              <a:t>!</a:t>
            </a:r>
            <a:endParaRPr lang="en-US" sz="1600" dirty="0"/>
          </a:p>
        </p:txBody>
      </p:sp>
      <p:sp>
        <p:nvSpPr>
          <p:cNvPr id="18" name="Text 16"/>
          <p:cNvSpPr/>
          <p:nvPr/>
        </p:nvSpPr>
        <p:spPr>
          <a:xfrm>
            <a:off x="1234440" y="4937760"/>
            <a:ext cx="9601200" cy="365760"/>
          </a:xfrm>
          <a:prstGeom prst="rect">
            <a:avLst/>
          </a:prstGeom>
          <a:noFill/>
          <a:ln/>
        </p:spPr>
        <p:txBody>
          <a:bodyPr wrap="square" lIns="0" tIns="0" rIns="0" bIns="0" rtlCol="0" anchor="ctr"/>
          <a:lstStyle/>
          <a:p>
            <a:pPr indent="0" marL="0">
              <a:buNone/>
            </a:pPr>
            <a:r>
              <a:rPr lang="en-US" sz="1500" b="1" dirty="0">
                <a:solidFill>
                  <a:srgbClr val="2C3E50"/>
                </a:solidFill>
                <a:latin typeface="Calibri" pitchFamily="34" charset="0"/>
                <a:ea typeface="Calibri" pitchFamily="34" charset="-122"/>
                <a:cs typeface="Calibri" pitchFamily="34" charset="-120"/>
              </a:rPr>
              <a:t>Visualization 7 has no chart asset</a:t>
            </a:r>
            <a:endParaRPr lang="en-US" sz="1500" dirty="0"/>
          </a:p>
        </p:txBody>
      </p:sp>
      <p:sp>
        <p:nvSpPr>
          <p:cNvPr id="19" name="Text 17"/>
          <p:cNvSpPr/>
          <p:nvPr/>
        </p:nvSpPr>
        <p:spPr>
          <a:xfrm>
            <a:off x="1234440" y="5303520"/>
            <a:ext cx="9601200" cy="502920"/>
          </a:xfrm>
          <a:prstGeom prst="rect">
            <a:avLst/>
          </a:prstGeom>
          <a:noFill/>
          <a:ln/>
        </p:spPr>
        <p:txBody>
          <a:bodyPr wrap="square" lIns="0" tIns="0" rIns="0" bIns="0" rtlCol="0" anchor="ctr"/>
          <a:lstStyle/>
          <a:p>
            <a:pPr indent="0" marL="0">
              <a:lnSpc>
                <a:spcPct val="125000"/>
              </a:lnSpc>
              <a:buNone/>
            </a:pPr>
            <a:r>
              <a:rPr lang="en-US" sz="1250" dirty="0">
                <a:solidFill>
                  <a:srgbClr val="33414F"/>
                </a:solidFill>
                <a:latin typeface="Calibri" pitchFamily="34" charset="0"/>
                <a:ea typeface="Calibri" pitchFamily="34" charset="-122"/>
                <a:cs typeface="Calibri" pitchFamily="34" charset="-120"/>
              </a:rPr>
              <a:t>Male-onboard-by-class percentages exist only as text in source materials; no placeholder chart was fabricated.</a:t>
            </a:r>
            <a:endParaRPr lang="en-US" sz="1250" dirty="0"/>
          </a:p>
        </p:txBody>
      </p:sp>
      <p:sp>
        <p:nvSpPr>
          <p:cNvPr id="20" name="Text 18"/>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7A8B9A"/>
                </a:solidFill>
                <a:latin typeface="Calibri" pitchFamily="34" charset="0"/>
                <a:ea typeface="Calibri" pitchFamily="34" charset="-122"/>
                <a:cs typeface="Calibri" pitchFamily="34" charset="-120"/>
              </a:rPr>
              <a:t>Voyage of Fate — Titanic Survival Analysis</a:t>
            </a:r>
            <a:endParaRPr lang="en-US" sz="900" dirty="0"/>
          </a:p>
        </p:txBody>
      </p:sp>
      <p:sp>
        <p:nvSpPr>
          <p:cNvPr id="21" name="Text 19"/>
          <p:cNvSpPr/>
          <p:nvPr/>
        </p:nvSpPr>
        <p:spPr>
          <a:xfrm>
            <a:off x="11521440" y="6537960"/>
            <a:ext cx="457200" cy="274320"/>
          </a:xfrm>
          <a:prstGeom prst="rect">
            <a:avLst/>
          </a:prstGeom>
          <a:noFill/>
          <a:ln/>
        </p:spPr>
        <p:txBody>
          <a:bodyPr wrap="square" rtlCol="0" anchor="ctr"/>
          <a:lstStyle/>
          <a:p>
            <a:pPr algn="r" indent="0" marL="0">
              <a:buNone/>
            </a:pPr>
            <a:r>
              <a:rPr lang="en-US" sz="900" dirty="0">
                <a:solidFill>
                  <a:srgbClr val="7A8B9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lIns="0" tIns="0" rIns="0" bIns="0" rtlCol="0" anchor="ctr"/>
          <a:lstStyle/>
          <a:p>
            <a:pPr indent="0" marL="0">
              <a:buNone/>
            </a:pPr>
            <a:r>
              <a:rPr lang="en-US" sz="1200" b="1" dirty="0">
                <a:solidFill>
                  <a:srgbClr val="5DADE2"/>
                </a:solidFill>
                <a:latin typeface="Calibri" pitchFamily="34" charset="0"/>
                <a:ea typeface="Calibri" pitchFamily="34" charset="-122"/>
                <a:cs typeface="Calibri" pitchFamily="34" charset="-120"/>
              </a:rPr>
              <a:t>05 · Conclusion</a:t>
            </a:r>
            <a:endParaRPr lang="en-US" sz="1200" dirty="0"/>
          </a:p>
        </p:txBody>
      </p:sp>
      <p:sp>
        <p:nvSpPr>
          <p:cNvPr id="3" name="Text 1"/>
          <p:cNvSpPr/>
          <p:nvPr/>
        </p:nvSpPr>
        <p:spPr>
          <a:xfrm>
            <a:off x="822960" y="1051560"/>
            <a:ext cx="1051560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Money and gender didn't act alone</a:t>
            </a:r>
            <a:endParaRPr lang="en-US" sz="3200" dirty="0"/>
          </a:p>
        </p:txBody>
      </p:sp>
      <p:sp>
        <p:nvSpPr>
          <p:cNvPr id="4" name="Text 2"/>
          <p:cNvSpPr/>
          <p:nvPr/>
        </p:nvSpPr>
        <p:spPr>
          <a:xfrm>
            <a:off x="822960" y="2103120"/>
            <a:ext cx="9601200" cy="1828800"/>
          </a:xfrm>
          <a:prstGeom prst="rect">
            <a:avLst/>
          </a:prstGeom>
          <a:noFill/>
          <a:ln/>
        </p:spPr>
        <p:txBody>
          <a:bodyPr wrap="square" lIns="0" tIns="0" rIns="0" bIns="0" rtlCol="0" anchor="ctr"/>
          <a:lstStyle/>
          <a:p>
            <a:pPr indent="0" marL="0">
              <a:lnSpc>
                <a:spcPct val="140000"/>
              </a:lnSpc>
              <a:buNone/>
            </a:pPr>
            <a:r>
              <a:rPr lang="en-US" sz="1600" dirty="0">
                <a:solidFill>
                  <a:srgbClr val="E8EDF2"/>
                </a:solidFill>
                <a:latin typeface="Calibri" pitchFamily="34" charset="0"/>
                <a:ea typeface="Calibri" pitchFamily="34" charset="-122"/>
                <a:cs typeface="Calibri" pitchFamily="34" charset="-120"/>
              </a:rPr>
              <a:t>Being female mattered enormously — but being female and in Third Class still left less than a coin-flip's chance of survival (46.1%), while being female in First Class made survival close to certain (96.5%). Socio-economic status didn't just correlate with survival: it modulated how much the era's evacuation norms actually protected you.</a:t>
            </a:r>
            <a:endParaRPr lang="en-US" sz="1600" dirty="0"/>
          </a:p>
        </p:txBody>
      </p:sp>
      <p:sp>
        <p:nvSpPr>
          <p:cNvPr id="5" name="Shape 3"/>
          <p:cNvSpPr/>
          <p:nvPr/>
        </p:nvSpPr>
        <p:spPr>
          <a:xfrm>
            <a:off x="822960" y="4297680"/>
            <a:ext cx="2926080" cy="0"/>
          </a:xfrm>
          <a:prstGeom prst="line">
            <a:avLst/>
          </a:prstGeom>
          <a:noFill/>
          <a:ln w="25400">
            <a:solidFill>
              <a:srgbClr val="5DADE2"/>
            </a:solidFill>
            <a:prstDash val="solid"/>
          </a:ln>
        </p:spPr>
      </p:sp>
      <p:sp>
        <p:nvSpPr>
          <p:cNvPr id="6" name="Text 4"/>
          <p:cNvSpPr/>
          <p:nvPr/>
        </p:nvSpPr>
        <p:spPr>
          <a:xfrm>
            <a:off x="822960" y="4572000"/>
            <a:ext cx="91440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Dashboard: public.tableau.com/app/profile/yemi.fatodu1473</a:t>
            </a:r>
            <a:endParaRPr lang="en-US" sz="1300" dirty="0"/>
          </a:p>
        </p:txBody>
      </p:sp>
      <p:sp>
        <p:nvSpPr>
          <p:cNvPr id="7" name="Text 5"/>
          <p:cNvSpPr/>
          <p:nvPr/>
        </p:nvSpPr>
        <p:spPr>
          <a:xfrm>
            <a:off x="822960" y="4937760"/>
            <a:ext cx="91440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Repo: github.com/yemifatodu/THE-TITANIC-PROJECT-VOYAGE-OF-FATE</a:t>
            </a:r>
            <a:endParaRPr lang="en-US" sz="1300" dirty="0"/>
          </a:p>
        </p:txBody>
      </p:sp>
      <p:sp>
        <p:nvSpPr>
          <p:cNvPr id="8" name="Text 6"/>
          <p:cNvSpPr/>
          <p:nvPr/>
        </p:nvSpPr>
        <p:spPr>
          <a:xfrm>
            <a:off x="822960" y="5303520"/>
            <a:ext cx="9144000"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Portfolio: yemifatodu.online/projects/titanic-survival-analysis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2026-07-18T09:59:36Z</dcterms:created>
  <dcterms:modified xsi:type="dcterms:W3CDTF">2026-07-18T09:59:36Z</dcterms:modified>
</cp:coreProperties>
</file>